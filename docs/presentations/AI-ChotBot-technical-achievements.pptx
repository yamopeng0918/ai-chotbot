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本專案的技術成果不只是一個能回覆問題的機器人，而是一條可控的服務流程。主線已具備核心能力與工程檢查；是否能在正式環境穩定運作，仍須透過後續部署及實機驗收確認。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設計原則是先保護入口，再讓工作可排隊處理，最後留下足夠但不過量的營運證據。這些原則讓回覆服務能兼顧使用者體驗、維護效率與隱私邊界，而非只追求單次回答成功。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架構將即時接收與較耗時的回答工作分開：前端事件先由 Worker 驗證，再交給 Queue 排程。AI、天氣與資料庫各自透過明確邊界合作，使單一服務故障時可以被分類與追查，而不是混在同一個處理步驟中。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端到端資料流從 webhook 的信任判斷開始，而不是直接把訊息送給 AI。Queue 工作者取得工作後再產生回答與回覆；若一般回覆失敗，才依規則採用 push fallback。每一步都有對應的安全化事件，可支援事後追蹤。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Cloudflare Workers 扮演服務協調中心：它接收外部事件、選擇處理流程，並把長時間工作移到背景。Hono 讓入口與路由保持清楚；各項雲端能力透過綁定取得，使部署前可以檢查設定是否一致。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Queue 機制像是把繁忙櫃檯與後台作業分開。可重試的問題會依規則再處理，反覆失敗的工作會進入 DLQ 供人工檢視；重複事件則由去重機制處理，避免同一問題對群組造成多次回覆。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能力被放在清楚的服務邊界內：它負責整理回答，不負責決定所有系統行為。系統保留主要與備援模型的選擇，以降低單一模型暫時不可用的影響；內容政策則要求誠實表達不確定性與安全限制。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氣問題採用專用資料流程，而不是把所有內容交給一般問答模型。快取能減少短時間內的重複查詢；即使快取保存或讀取出現問題，系統仍會以可用的資料來源繼續處理，避免把儲存層問題誤判為天氣供應商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D1 不只是資料表，而是支撐工作狀態、群組設定、天氣快取與 metrics 的共同基礎。資料生命週期採最長 30 天的清理機制，讓診斷與營運有足夠窗口，同時避免不必要地長期保留處理中的內容。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安全策略的重點是資料最小化與可驗證邊界。服務需要的機密由平台管理，正常日誌只記錄允許欄位。由於外部天氣請求可能包含使用者衍生地點資訊，第一階段刻意不啟用 Traces，直到有經審閱的安全邊界。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可觀測性讓團隊能回答「哪一個事件在哪一步失敗」。已解析的 LINE 事件使用 webhookEventId，沒有可信事件識別碼的操作使用 operationId。事件鏈會記錄階段、結果與安全化錯誤分類，協助從儀表板追蹤，而不暴露訊息內容。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測試數字反映截至指定日期的開發環境結果，而不是正式環境的服務承諾。主線 134 項與知識搜尋 421 項測試提供回歸保護，但知識搜尋仍有 1 項逾時，且主線設定型別宣告待更新；這些都必須在上線前關閉。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知識搜尋的目標是讓回答能連回可檢查的證據，而不是只生成文字。設計採 R2、背景匯入、Workers AI、Vectorize、retrieval 與 grounded answer 的分層流程；目前它仍在獨立分支開發中，尚未合併或進行正式部署。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成熟度以具名狀態而非百分比呈現，因為不同能力的風險與驗證方式不同。已完成代表主線程式與開發環境檢查已有證據；開發中代表功能仍在分支；待驗證則必須由授權部署後的真實服務結果決定。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現階段改善計畫以關閉已知缺口為優先，而不是擴大功能範圍。首先處理逾時與型別宣告，再整理知識搜尋分支的未提交修改。完成工程檢查後，才進入具授權條件的部署與逐項 smoke 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路線圖刻意把合併放在驗證之後，把實機驗收放在正式部署之後。每個階段都需要留下可查核證據：分支審查、測試結果、部署紀錄與 smoke 結果。這能讓技術投資依風險順序推進，而不是一次把不確定性帶進正式環境。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專案與技術成果摘要</a:t>
            </a:r>
          </a:p>
        </p:txBody>
      </p:sp>
      <p:sp>
        <p:nvSpPr>
          <p:cNvPr id="5" name="conclusion-1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已建立 LINE 跑步社群的雲端問答主流程</a:t>
            </a:r>
          </a:p>
        </p:txBody>
      </p:sp>
      <p:sp>
        <p:nvSpPr>
          <p:cNvPr id="6" name="footer-1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01 / 16</a:t>
            </a:r>
          </a:p>
        </p:txBody>
      </p:sp>
      <p:sp>
        <p:nvSpPr>
          <p:cNvPr id="8" name="bullet-1-1"/>
          <p:cNvSpPr/>
          <p:nvPr/>
        </p:nvSpPr>
        <p:spPr>
          <a:xfrm>
            <a:off x="640080" y="1874519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已建立 LINE 跑步社群的雲端問答主流程</a:t>
            </a:r>
          </a:p>
        </p:txBody>
      </p:sp>
      <p:sp>
        <p:nvSpPr>
          <p:cNvPr id="9" name="bullet-1-2"/>
          <p:cNvSpPr/>
          <p:nvPr/>
        </p:nvSpPr>
        <p:spPr>
          <a:xfrm>
            <a:off x="6236208" y="1874519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核心能力涵蓋訊息驗證、非同步處理、AI 回答與資料保存</a:t>
            </a:r>
          </a:p>
        </p:txBody>
      </p:sp>
      <p:sp>
        <p:nvSpPr>
          <p:cNvPr id="10" name="bullet-1-3"/>
          <p:cNvSpPr/>
          <p:nvPr/>
        </p:nvSpPr>
        <p:spPr>
          <a:xfrm>
            <a:off x="640080" y="4027931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工程治理同步納入可靠性、隱私、觀測與自動化檢查</a:t>
            </a:r>
          </a:p>
        </p:txBody>
      </p:sp>
      <p:sp>
        <p:nvSpPr>
          <p:cNvPr id="11" name="bullet-1-4"/>
          <p:cNvSpPr/>
          <p:nvPr/>
        </p:nvSpPr>
        <p:spPr>
          <a:xfrm>
            <a:off x="6236208" y="4027931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正式部署與實機驗收仍屬待驗證事項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2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2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技術目標與設計原則</a:t>
            </a:r>
          </a:p>
        </p:txBody>
      </p:sp>
      <p:sp>
        <p:nvSpPr>
          <p:cNvPr id="5" name="conclusion-2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只處理完成驗證且符合群組規則的 LINE 訊息</a:t>
            </a:r>
          </a:p>
        </p:txBody>
      </p:sp>
      <p:sp>
        <p:nvSpPr>
          <p:cNvPr id="6" name="footer-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2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02 / 16</a:t>
            </a:r>
          </a:p>
        </p:txBody>
      </p:sp>
      <p:sp>
        <p:nvSpPr>
          <p:cNvPr id="8" name="bullet-2-1"/>
          <p:cNvSpPr/>
          <p:nvPr/>
        </p:nvSpPr>
        <p:spPr>
          <a:xfrm>
            <a:off x="640080" y="1874519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只處理完成驗證且符合群組規則的 LINE 訊息</a:t>
            </a:r>
          </a:p>
        </p:txBody>
      </p:sp>
      <p:sp>
        <p:nvSpPr>
          <p:cNvPr id="9" name="bullet-2-2"/>
          <p:cNvSpPr/>
          <p:nvPr/>
        </p:nvSpPr>
        <p:spPr>
          <a:xfrm>
            <a:off x="6236208" y="1874519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以非同步工作切開接收訊息與產生回答的時間壓力</a:t>
            </a:r>
          </a:p>
        </p:txBody>
      </p:sp>
      <p:sp>
        <p:nvSpPr>
          <p:cNvPr id="10" name="bullet-2-3"/>
          <p:cNvSpPr/>
          <p:nvPr/>
        </p:nvSpPr>
        <p:spPr>
          <a:xfrm>
            <a:off x="640080" y="4027931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將營運紀錄設計為可查詢且避免保留訊息原文</a:t>
            </a:r>
          </a:p>
        </p:txBody>
      </p:sp>
      <p:sp>
        <p:nvSpPr>
          <p:cNvPr id="11" name="bullet-2-4"/>
          <p:cNvSpPr/>
          <p:nvPr/>
        </p:nvSpPr>
        <p:spPr>
          <a:xfrm>
            <a:off x="6236208" y="4027931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對暫時性失敗採用分類、重試與可追蹤的處置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3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3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整體系統架構</a:t>
            </a:r>
          </a:p>
        </p:txBody>
      </p:sp>
      <p:sp>
        <p:nvSpPr>
          <p:cNvPr id="5" name="conclusion-3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LINE Messaging API 接收群組事件並提供回覆通道</a:t>
            </a:r>
          </a:p>
        </p:txBody>
      </p:sp>
      <p:sp>
        <p:nvSpPr>
          <p:cNvPr id="6" name="footer-3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3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03 / 16</a:t>
            </a:r>
          </a:p>
        </p:txBody>
      </p:sp>
      <p:sp>
        <p:nvSpPr>
          <p:cNvPr id="8" name="bullet-3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LINE Messaging API 接收群組事件並提供回覆通道</a:t>
            </a:r>
          </a:p>
        </p:txBody>
      </p:sp>
      <p:sp>
        <p:nvSpPr>
          <p:cNvPr id="9" name="bullet-3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Cloudflare Workers 與 Hono 負責驗證、路由與健康檢查</a:t>
            </a:r>
          </a:p>
        </p:txBody>
      </p:sp>
      <p:sp>
        <p:nvSpPr>
          <p:cNvPr id="10" name="bullet-3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Queues 承接背景工作，Workers AI 產生繁體中文回答</a:t>
            </a:r>
          </a:p>
        </p:txBody>
      </p:sp>
      <p:sp>
        <p:nvSpPr>
          <p:cNvPr id="11" name="bullet-3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D1 保存必要工作狀態，Open-Meteo 支援天氣資料查詢</a:t>
            </a:r>
          </a:p>
        </p:txBody>
      </p:sp>
      <p:sp>
        <p:nvSpPr>
          <p:cNvPr id="12" name="architecture-node-1"/>
          <p:cNvSpPr/>
          <p:nvPr/>
        </p:nvSpPr>
        <p:spPr>
          <a:xfrm>
            <a:off x="685800" y="1965960"/>
            <a:ext cx="2240280" cy="58521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架構節點 1
LINE</a:t>
            </a:r>
          </a:p>
        </p:txBody>
      </p:sp>
      <p:sp>
        <p:nvSpPr>
          <p:cNvPr id="13" name="architecture-node-2"/>
          <p:cNvSpPr/>
          <p:nvPr/>
        </p:nvSpPr>
        <p:spPr>
          <a:xfrm>
            <a:off x="3520440" y="1965960"/>
            <a:ext cx="2240280" cy="58521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架構節點 2
Webhook</a:t>
            </a:r>
          </a:p>
        </p:txBody>
      </p:sp>
      <p:sp>
        <p:nvSpPr>
          <p:cNvPr id="14" name="architecture-node-3"/>
          <p:cNvSpPr/>
          <p:nvPr/>
        </p:nvSpPr>
        <p:spPr>
          <a:xfrm>
            <a:off x="6355080" y="1965960"/>
            <a:ext cx="2240280" cy="58521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架構節點 3
Worker</a:t>
            </a:r>
          </a:p>
        </p:txBody>
      </p:sp>
      <p:sp>
        <p:nvSpPr>
          <p:cNvPr id="15" name="architecture-node-4"/>
          <p:cNvSpPr/>
          <p:nvPr/>
        </p:nvSpPr>
        <p:spPr>
          <a:xfrm>
            <a:off x="9189720" y="1965960"/>
            <a:ext cx="2240280" cy="58521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架構節點 4
Queue</a:t>
            </a:r>
          </a:p>
        </p:txBody>
      </p:sp>
      <p:sp>
        <p:nvSpPr>
          <p:cNvPr id="16" name="architecture-node-5"/>
          <p:cNvSpPr/>
          <p:nvPr/>
        </p:nvSpPr>
        <p:spPr>
          <a:xfrm>
            <a:off x="685800" y="2926080"/>
            <a:ext cx="2240280" cy="58521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架構節點 5
Workers AI</a:t>
            </a:r>
          </a:p>
        </p:txBody>
      </p:sp>
      <p:sp>
        <p:nvSpPr>
          <p:cNvPr id="17" name="architecture-node-6"/>
          <p:cNvSpPr/>
          <p:nvPr/>
        </p:nvSpPr>
        <p:spPr>
          <a:xfrm>
            <a:off x="3520440" y="2926080"/>
            <a:ext cx="2240280" cy="58521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架構節點 6
D1</a:t>
            </a:r>
          </a:p>
        </p:txBody>
      </p:sp>
      <p:sp>
        <p:nvSpPr>
          <p:cNvPr id="18" name="architecture-node-7"/>
          <p:cNvSpPr/>
          <p:nvPr/>
        </p:nvSpPr>
        <p:spPr>
          <a:xfrm>
            <a:off x="6355080" y="2926080"/>
            <a:ext cx="2240280" cy="58521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架構節點 7
Open-Meteo</a:t>
            </a:r>
          </a:p>
        </p:txBody>
      </p:sp>
      <p:cxnSp>
        <p:nvCxnSpPr>
          <p:cNvPr id="19" name="architecture-connector-1"/>
          <p:cNvCxnSpPr/>
          <p:nvPr/>
        </p:nvCxnSpPr>
        <p:spPr>
          <a:xfrm>
            <a:off x="2926080" y="2258568"/>
            <a:ext cx="594360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rchitecture-connector-2"/>
          <p:cNvCxnSpPr/>
          <p:nvPr/>
        </p:nvCxnSpPr>
        <p:spPr>
          <a:xfrm>
            <a:off x="5760720" y="2258568"/>
            <a:ext cx="594360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rchitecture-connector-3"/>
          <p:cNvCxnSpPr/>
          <p:nvPr/>
        </p:nvCxnSpPr>
        <p:spPr>
          <a:xfrm>
            <a:off x="8595360" y="2258568"/>
            <a:ext cx="594360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chitecture-connector-4"/>
          <p:cNvCxnSpPr/>
          <p:nvPr/>
        </p:nvCxnSpPr>
        <p:spPr>
          <a:xfrm flipH="1">
            <a:off x="2011680" y="2578608"/>
            <a:ext cx="1645920" cy="347472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chitecture-connector-5"/>
          <p:cNvCxnSpPr/>
          <p:nvPr/>
        </p:nvCxnSpPr>
        <p:spPr>
          <a:xfrm flipH="1">
            <a:off x="4846320" y="2578608"/>
            <a:ext cx="1554480" cy="347472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rchitecture-connector-6"/>
          <p:cNvCxnSpPr/>
          <p:nvPr/>
        </p:nvCxnSpPr>
        <p:spPr>
          <a:xfrm flipH="1">
            <a:off x="7680960" y="2578608"/>
            <a:ext cx="1463040" cy="347472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4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4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LINE 訊息端到端資料流</a:t>
            </a:r>
          </a:p>
        </p:txBody>
      </p:sp>
      <p:sp>
        <p:nvSpPr>
          <p:cNvPr id="5" name="conclusion-4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Webhook 先驗證簽章、指定群組與原生 mention 條件</a:t>
            </a:r>
          </a:p>
        </p:txBody>
      </p:sp>
      <p:sp>
        <p:nvSpPr>
          <p:cNvPr id="6" name="footer-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4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04 / 16</a:t>
            </a:r>
          </a:p>
        </p:txBody>
      </p:sp>
      <p:sp>
        <p:nvSpPr>
          <p:cNvPr id="8" name="bullet-4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Webhook 先驗證簽章、指定群組與原生 mention 條件</a:t>
            </a:r>
          </a:p>
        </p:txBody>
      </p:sp>
      <p:sp>
        <p:nvSpPr>
          <p:cNvPr id="9" name="bullet-4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合格事件寫入 Queue，由背景工作者依序取得處理權</a:t>
            </a:r>
          </a:p>
        </p:txBody>
      </p:sp>
      <p:sp>
        <p:nvSpPr>
          <p:cNvPr id="10" name="bullet-4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回答完成後優先 LINE reply，必要時才使用 push fallback</a:t>
            </a:r>
          </a:p>
        </p:txBody>
      </p:sp>
      <p:sp>
        <p:nvSpPr>
          <p:cNvPr id="11" name="bullet-4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系統寫入安全化事件，串起 webhook 與後續處理紀錄</a:t>
            </a:r>
          </a:p>
        </p:txBody>
      </p:sp>
      <p:sp>
        <p:nvSpPr>
          <p:cNvPr id="12" name="message-flow-step-1"/>
          <p:cNvSpPr/>
          <p:nvPr/>
        </p:nvSpPr>
        <p:spPr>
          <a:xfrm>
            <a:off x="777240" y="2011680"/>
            <a:ext cx="2286000" cy="47548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50" b="1">
                <a:solidFill>
                  <a:srgbClr val="F4F8FC"/>
                </a:solidFill>
                <a:latin typeface="Microsoft JhengHei"/>
              </a:rPr>
              <a:t>Webhook 接收</a:t>
            </a:r>
          </a:p>
        </p:txBody>
      </p:sp>
      <p:sp>
        <p:nvSpPr>
          <p:cNvPr id="13" name="message-flow-step-2"/>
          <p:cNvSpPr/>
          <p:nvPr/>
        </p:nvSpPr>
        <p:spPr>
          <a:xfrm>
            <a:off x="4480559" y="2011680"/>
            <a:ext cx="2286000" cy="47548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50" b="1">
                <a:solidFill>
                  <a:srgbClr val="F4F8FC"/>
                </a:solidFill>
                <a:latin typeface="Microsoft JhengHei"/>
              </a:rPr>
              <a:t>簽章與群組 mention 驗證</a:t>
            </a:r>
          </a:p>
        </p:txBody>
      </p:sp>
      <p:sp>
        <p:nvSpPr>
          <p:cNvPr id="14" name="message-flow-step-3"/>
          <p:cNvSpPr/>
          <p:nvPr/>
        </p:nvSpPr>
        <p:spPr>
          <a:xfrm>
            <a:off x="8183879" y="2011680"/>
            <a:ext cx="2286000" cy="47548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50" b="1">
                <a:solidFill>
                  <a:srgbClr val="F4F8FC"/>
                </a:solidFill>
                <a:latin typeface="Microsoft JhengHei"/>
              </a:rPr>
              <a:t>Queue 入列</a:t>
            </a:r>
          </a:p>
        </p:txBody>
      </p:sp>
      <p:sp>
        <p:nvSpPr>
          <p:cNvPr id="15" name="message-flow-step-4"/>
          <p:cNvSpPr/>
          <p:nvPr/>
        </p:nvSpPr>
        <p:spPr>
          <a:xfrm>
            <a:off x="777240" y="2926080"/>
            <a:ext cx="2286000" cy="47548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50" b="1">
                <a:solidFill>
                  <a:srgbClr val="F4F8FC"/>
                </a:solidFill>
                <a:latin typeface="Microsoft JhengHei"/>
              </a:rPr>
              <a:t>AI 或資料來源處理</a:t>
            </a:r>
          </a:p>
        </p:txBody>
      </p:sp>
      <p:sp>
        <p:nvSpPr>
          <p:cNvPr id="16" name="message-flow-step-5"/>
          <p:cNvSpPr/>
          <p:nvPr/>
        </p:nvSpPr>
        <p:spPr>
          <a:xfrm>
            <a:off x="4480559" y="2926080"/>
            <a:ext cx="2286000" cy="47548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50" b="1">
                <a:solidFill>
                  <a:srgbClr val="F4F8FC"/>
                </a:solidFill>
                <a:latin typeface="Microsoft JhengHei"/>
              </a:rPr>
              <a:t>LINE reply 與 push fallback</a:t>
            </a:r>
          </a:p>
        </p:txBody>
      </p:sp>
      <p:sp>
        <p:nvSpPr>
          <p:cNvPr id="17" name="message-flow-step-6"/>
          <p:cNvSpPr/>
          <p:nvPr/>
        </p:nvSpPr>
        <p:spPr>
          <a:xfrm>
            <a:off x="8183879" y="2926080"/>
            <a:ext cx="2286000" cy="47548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50" b="1">
                <a:solidFill>
                  <a:srgbClr val="F4F8FC"/>
                </a:solidFill>
                <a:latin typeface="Microsoft JhengHei"/>
              </a:rPr>
              <a:t>D1 與觀測紀錄</a:t>
            </a:r>
          </a:p>
        </p:txBody>
      </p:sp>
      <p:cxnSp>
        <p:nvCxnSpPr>
          <p:cNvPr id="18" name="message-flow-connector-1"/>
          <p:cNvCxnSpPr/>
          <p:nvPr/>
        </p:nvCxnSpPr>
        <p:spPr>
          <a:xfrm>
            <a:off x="3063240" y="2249424"/>
            <a:ext cx="1417320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message-flow-connector-2"/>
          <p:cNvCxnSpPr/>
          <p:nvPr/>
        </p:nvCxnSpPr>
        <p:spPr>
          <a:xfrm>
            <a:off x="6766560" y="2249424"/>
            <a:ext cx="1417319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message-flow-connector-3"/>
          <p:cNvCxnSpPr/>
          <p:nvPr/>
        </p:nvCxnSpPr>
        <p:spPr>
          <a:xfrm>
            <a:off x="9326880" y="2487168"/>
            <a:ext cx="0" cy="438912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message-flow-connector-4"/>
          <p:cNvCxnSpPr/>
          <p:nvPr/>
        </p:nvCxnSpPr>
        <p:spPr>
          <a:xfrm flipH="1">
            <a:off x="6766560" y="3163824"/>
            <a:ext cx="1417319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essage-flow-connector-5"/>
          <p:cNvCxnSpPr/>
          <p:nvPr/>
        </p:nvCxnSpPr>
        <p:spPr>
          <a:xfrm flipH="1">
            <a:off x="3063240" y="3163824"/>
            <a:ext cx="1417320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5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Cloudflare Workers 執行架構</a:t>
            </a:r>
          </a:p>
        </p:txBody>
      </p:sp>
      <p:sp>
        <p:nvSpPr>
          <p:cNvPr id="5" name="conclusion-5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Worker 以輕量執行環境處理 HTTP webhook 與排程工作</a:t>
            </a:r>
          </a:p>
        </p:txBody>
      </p:sp>
      <p:sp>
        <p:nvSpPr>
          <p:cNvPr id="6" name="footer-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5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05 / 16</a:t>
            </a:r>
          </a:p>
        </p:txBody>
      </p:sp>
      <p:sp>
        <p:nvSpPr>
          <p:cNvPr id="8" name="bullet-5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Worker 以輕量執行環境處理 HTTP webhook 與排程工作</a:t>
            </a:r>
          </a:p>
        </p:txBody>
      </p:sp>
      <p:sp>
        <p:nvSpPr>
          <p:cNvPr id="9" name="bullet-5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Hono 提供清楚的路由邊界與健康檢查入口</a:t>
            </a:r>
          </a:p>
        </p:txBody>
      </p:sp>
      <p:sp>
        <p:nvSpPr>
          <p:cNvPr id="10" name="bullet-5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Queue consumer 處理背景訊息，避免 webhook 長時間等待</a:t>
            </a:r>
          </a:p>
        </p:txBody>
      </p:sp>
      <p:sp>
        <p:nvSpPr>
          <p:cNvPr id="11" name="bullet-5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Workers AI、D1 與 Queue 以明確綁定連接服務能力</a:t>
            </a:r>
          </a:p>
        </p:txBody>
      </p:sp>
      <p:sp>
        <p:nvSpPr>
          <p:cNvPr id="12" name="worker-flow-node-1"/>
          <p:cNvSpPr/>
          <p:nvPr/>
        </p:nvSpPr>
        <p:spPr>
          <a:xfrm>
            <a:off x="822960" y="2194560"/>
            <a:ext cx="205740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Webhook 路由</a:t>
            </a:r>
          </a:p>
        </p:txBody>
      </p:sp>
      <p:sp>
        <p:nvSpPr>
          <p:cNvPr id="13" name="worker-flow-node-2"/>
          <p:cNvSpPr/>
          <p:nvPr/>
        </p:nvSpPr>
        <p:spPr>
          <a:xfrm>
            <a:off x="3611879" y="2194560"/>
            <a:ext cx="205740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Hono</a:t>
            </a:r>
          </a:p>
        </p:txBody>
      </p:sp>
      <p:cxnSp>
        <p:nvCxnSpPr>
          <p:cNvPr id="14" name="worker-flow-connector-1"/>
          <p:cNvCxnSpPr/>
          <p:nvPr/>
        </p:nvCxnSpPr>
        <p:spPr>
          <a:xfrm>
            <a:off x="2880360" y="2459736"/>
            <a:ext cx="731519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worker-flow-node-3"/>
          <p:cNvSpPr/>
          <p:nvPr/>
        </p:nvSpPr>
        <p:spPr>
          <a:xfrm>
            <a:off x="6400800" y="2194560"/>
            <a:ext cx="205740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Queue consumer</a:t>
            </a:r>
          </a:p>
        </p:txBody>
      </p:sp>
      <p:cxnSp>
        <p:nvCxnSpPr>
          <p:cNvPr id="16" name="worker-flow-connector-2"/>
          <p:cNvCxnSpPr/>
          <p:nvPr/>
        </p:nvCxnSpPr>
        <p:spPr>
          <a:xfrm>
            <a:off x="5669279" y="2459736"/>
            <a:ext cx="731521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worker-flow-node-4"/>
          <p:cNvSpPr/>
          <p:nvPr/>
        </p:nvSpPr>
        <p:spPr>
          <a:xfrm>
            <a:off x="9189719" y="2194560"/>
            <a:ext cx="205740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綁定服務</a:t>
            </a:r>
          </a:p>
        </p:txBody>
      </p:sp>
      <p:cxnSp>
        <p:nvCxnSpPr>
          <p:cNvPr id="18" name="worker-flow-connector-3"/>
          <p:cNvCxnSpPr/>
          <p:nvPr/>
        </p:nvCxnSpPr>
        <p:spPr>
          <a:xfrm>
            <a:off x="8458200" y="2459736"/>
            <a:ext cx="731519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6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6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Queue 非同步與可靠性設計</a:t>
            </a:r>
          </a:p>
        </p:txBody>
      </p:sp>
      <p:sp>
        <p:nvSpPr>
          <p:cNvPr id="5" name="conclusion-6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Queue 將尖峰訊息排隊，降低即時入口被耗時工作阻塞的風險</a:t>
            </a:r>
          </a:p>
        </p:txBody>
      </p:sp>
      <p:sp>
        <p:nvSpPr>
          <p:cNvPr id="6" name="footer-6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6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06 / 16</a:t>
            </a:r>
          </a:p>
        </p:txBody>
      </p:sp>
      <p:sp>
        <p:nvSpPr>
          <p:cNvPr id="8" name="bullet-6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Queue 將尖峰訊息排隊，降低即時入口被耗時工作阻塞的風險</a:t>
            </a:r>
          </a:p>
        </p:txBody>
      </p:sp>
      <p:sp>
        <p:nvSpPr>
          <p:cNvPr id="9" name="bullet-6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retry 針對暫時性失敗安排後續處理，而非直接遺失工作</a:t>
            </a:r>
          </a:p>
        </p:txBody>
      </p:sp>
      <p:sp>
        <p:nvSpPr>
          <p:cNvPr id="10" name="bullet-6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dead-letter queue（DLQ）保留反覆失敗工作，供後續調查與處置</a:t>
            </a:r>
          </a:p>
        </p:txBody>
      </p:sp>
      <p:sp>
        <p:nvSpPr>
          <p:cNvPr id="11" name="bullet-6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deduplication 避免同一已完成工作被重複回覆</a:t>
            </a:r>
          </a:p>
        </p:txBody>
      </p:sp>
      <p:sp>
        <p:nvSpPr>
          <p:cNvPr id="12" name="reliability-node-retry"/>
          <p:cNvSpPr/>
          <p:nvPr/>
        </p:nvSpPr>
        <p:spPr>
          <a:xfrm>
            <a:off x="914400" y="21031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retry
暫時失敗再處理</a:t>
            </a:r>
          </a:p>
        </p:txBody>
      </p:sp>
      <p:sp>
        <p:nvSpPr>
          <p:cNvPr id="13" name="reliability-node-dlq"/>
          <p:cNvSpPr/>
          <p:nvPr/>
        </p:nvSpPr>
        <p:spPr>
          <a:xfrm>
            <a:off x="4617720" y="21031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DLQ
反覆失敗待調查</a:t>
            </a:r>
          </a:p>
        </p:txBody>
      </p:sp>
      <p:cxnSp>
        <p:nvCxnSpPr>
          <p:cNvPr id="14" name="reliability-connector-1"/>
          <p:cNvCxnSpPr/>
          <p:nvPr/>
        </p:nvCxnSpPr>
        <p:spPr>
          <a:xfrm>
            <a:off x="3657600" y="2468880"/>
            <a:ext cx="960120" cy="0"/>
          </a:xfrm>
          <a:prstGeom prst="line">
            <a:avLst/>
          </a:prstGeom>
          <a:ln w="22860">
            <a:solidFill>
              <a:srgbClr val="FF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liability-node-deduplication"/>
          <p:cNvSpPr/>
          <p:nvPr/>
        </p:nvSpPr>
        <p:spPr>
          <a:xfrm>
            <a:off x="8321040" y="21031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deduplication
避免重複回覆</a:t>
            </a:r>
          </a:p>
        </p:txBody>
      </p:sp>
      <p:cxnSp>
        <p:nvCxnSpPr>
          <p:cNvPr id="16" name="reliability-connector-2"/>
          <p:cNvCxnSpPr/>
          <p:nvPr/>
        </p:nvCxnSpPr>
        <p:spPr>
          <a:xfrm>
            <a:off x="7360920" y="2468880"/>
            <a:ext cx="960120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7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7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AI 回答與模型邊界</a:t>
            </a:r>
          </a:p>
        </p:txBody>
      </p:sp>
      <p:sp>
        <p:nvSpPr>
          <p:cNvPr id="5" name="conclusion-7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Workers AI 以固定主要模型產生繁體中文跑步相關回答</a:t>
            </a:r>
          </a:p>
        </p:txBody>
      </p:sp>
      <p:sp>
        <p:nvSpPr>
          <p:cNvPr id="6" name="footer-7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7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07 / 16</a:t>
            </a:r>
          </a:p>
        </p:txBody>
      </p:sp>
      <p:sp>
        <p:nvSpPr>
          <p:cNvPr id="8" name="bullet-7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Workers AI 以固定主要模型產生繁體中文跑步相關回答</a:t>
            </a:r>
          </a:p>
        </p:txBody>
      </p:sp>
      <p:sp>
        <p:nvSpPr>
          <p:cNvPr id="9" name="bullet-7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主要模型不可用時，可由較小的備援模型接手</a:t>
            </a:r>
          </a:p>
        </p:txBody>
      </p:sp>
      <p:sp>
        <p:nvSpPr>
          <p:cNvPr id="10" name="bullet-7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資訊不足時應說明不確定性，不捏造來源或數據</a:t>
            </a:r>
          </a:p>
        </p:txBody>
      </p:sp>
      <p:sp>
        <p:nvSpPr>
          <p:cNvPr id="11" name="bullet-7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健康與緊急情境僅提供一般資訊並提醒尋求專業協助</a:t>
            </a:r>
          </a:p>
        </p:txBody>
      </p:sp>
      <p:sp>
        <p:nvSpPr>
          <p:cNvPr id="12" name="model-boundary-primary"/>
          <p:cNvSpPr/>
          <p:nvPr/>
        </p:nvSpPr>
        <p:spPr>
          <a:xfrm>
            <a:off x="822960" y="2148840"/>
            <a:ext cx="2788920" cy="62179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主要模型</a:t>
            </a:r>
          </a:p>
        </p:txBody>
      </p:sp>
      <p:sp>
        <p:nvSpPr>
          <p:cNvPr id="13" name="model-boundary-fallback"/>
          <p:cNvSpPr/>
          <p:nvPr/>
        </p:nvSpPr>
        <p:spPr>
          <a:xfrm>
            <a:off x="4572000" y="2148840"/>
            <a:ext cx="2788920" cy="62179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備援模型</a:t>
            </a:r>
          </a:p>
        </p:txBody>
      </p:sp>
      <p:sp>
        <p:nvSpPr>
          <p:cNvPr id="14" name="model-boundary-policy"/>
          <p:cNvSpPr/>
          <p:nvPr/>
        </p:nvSpPr>
        <p:spPr>
          <a:xfrm>
            <a:off x="8321040" y="2148840"/>
            <a:ext cx="2788920" cy="62179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回答政策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8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8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8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天氣資料整合與快取</a:t>
            </a:r>
          </a:p>
        </p:txBody>
      </p:sp>
      <p:sp>
        <p:nvSpPr>
          <p:cNvPr id="5" name="conclusion-8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Open-Meteo 提供跑步情境所需的天氣資料</a:t>
            </a:r>
          </a:p>
        </p:txBody>
      </p:sp>
      <p:sp>
        <p:nvSpPr>
          <p:cNvPr id="6" name="footer-8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8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08 / 16</a:t>
            </a:r>
          </a:p>
        </p:txBody>
      </p:sp>
      <p:sp>
        <p:nvSpPr>
          <p:cNvPr id="8" name="bullet-8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Open-Meteo 提供跑步情境所需的天氣資料</a:t>
            </a:r>
          </a:p>
        </p:txBody>
      </p:sp>
      <p:sp>
        <p:nvSpPr>
          <p:cNvPr id="9" name="bullet-8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系統先依意圖辨識天氣問題，再整理地點查詢條件</a:t>
            </a:r>
          </a:p>
        </p:txBody>
      </p:sp>
      <p:sp>
        <p:nvSpPr>
          <p:cNvPr id="10" name="bullet-8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D1 快取近期結果，降低相同城市的重複外部請求</a:t>
            </a:r>
          </a:p>
        </p:txBody>
      </p:sp>
      <p:sp>
        <p:nvSpPr>
          <p:cNvPr id="11" name="bullet-8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快取讀寫失敗不會丟棄已取得的有效天氣回答</a:t>
            </a:r>
          </a:p>
        </p:txBody>
      </p:sp>
      <p:sp>
        <p:nvSpPr>
          <p:cNvPr id="12" name="weather-cache-step-intent"/>
          <p:cNvSpPr/>
          <p:nvPr/>
        </p:nvSpPr>
        <p:spPr>
          <a:xfrm>
            <a:off x="777240" y="21488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意圖辨識</a:t>
            </a:r>
          </a:p>
        </p:txBody>
      </p:sp>
      <p:sp>
        <p:nvSpPr>
          <p:cNvPr id="13" name="weather-cache-step-cache-read"/>
          <p:cNvSpPr/>
          <p:nvPr/>
        </p:nvSpPr>
        <p:spPr>
          <a:xfrm>
            <a:off x="3611880" y="21488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快取讀取</a:t>
            </a:r>
          </a:p>
        </p:txBody>
      </p:sp>
      <p:cxnSp>
        <p:nvCxnSpPr>
          <p:cNvPr id="14" name="weather-cache-connector-1"/>
          <p:cNvCxnSpPr/>
          <p:nvPr/>
        </p:nvCxnSpPr>
        <p:spPr>
          <a:xfrm>
            <a:off x="3017520" y="2432304"/>
            <a:ext cx="594360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weather-cache-step-provider"/>
          <p:cNvSpPr/>
          <p:nvPr/>
        </p:nvSpPr>
        <p:spPr>
          <a:xfrm>
            <a:off x="6446520" y="21488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Open-Meteo</a:t>
            </a:r>
          </a:p>
        </p:txBody>
      </p:sp>
      <p:cxnSp>
        <p:nvCxnSpPr>
          <p:cNvPr id="16" name="weather-cache-connector-2"/>
          <p:cNvCxnSpPr/>
          <p:nvPr/>
        </p:nvCxnSpPr>
        <p:spPr>
          <a:xfrm>
            <a:off x="5852160" y="2432304"/>
            <a:ext cx="594360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weather-cache-step-cache-write"/>
          <p:cNvSpPr/>
          <p:nvPr/>
        </p:nvSpPr>
        <p:spPr>
          <a:xfrm>
            <a:off x="9281160" y="2148840"/>
            <a:ext cx="2240280" cy="566928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50" b="1">
                <a:solidFill>
                  <a:srgbClr val="F4F8FC"/>
                </a:solidFill>
                <a:latin typeface="Microsoft JhengHei"/>
              </a:rPr>
              <a:t>快取寫入</a:t>
            </a:r>
          </a:p>
        </p:txBody>
      </p:sp>
      <p:cxnSp>
        <p:nvCxnSpPr>
          <p:cNvPr id="18" name="weather-cache-connector-3"/>
          <p:cNvCxnSpPr/>
          <p:nvPr/>
        </p:nvCxnSpPr>
        <p:spPr>
          <a:xfrm>
            <a:off x="8686800" y="2432304"/>
            <a:ext cx="594360" cy="0"/>
          </a:xfrm>
          <a:prstGeom prst="line">
            <a:avLst/>
          </a:prstGeom>
          <a:ln w="22860">
            <a:solidFill>
              <a:srgbClr val="4B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9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9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9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D1 資料模型與生命週期</a:t>
            </a:r>
          </a:p>
        </p:txBody>
      </p:sp>
      <p:sp>
        <p:nvSpPr>
          <p:cNvPr id="5" name="conclusion-9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D1 工作紀錄支援問題處理、回覆狀態與診斷追蹤</a:t>
            </a:r>
          </a:p>
        </p:txBody>
      </p:sp>
      <p:sp>
        <p:nvSpPr>
          <p:cNvPr id="6" name="footer-9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9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09 / 16</a:t>
            </a:r>
          </a:p>
        </p:txBody>
      </p:sp>
      <p:sp>
        <p:nvSpPr>
          <p:cNvPr id="8" name="bullet-9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D1 工作紀錄支援問題處理、回覆狀態與診斷追蹤</a:t>
            </a:r>
          </a:p>
        </p:txBody>
      </p:sp>
      <p:sp>
        <p:nvSpPr>
          <p:cNvPr id="9" name="bullet-9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天氣快取保存短期可重用資料，搭配群組設定使用</a:t>
            </a:r>
          </a:p>
        </p:txBody>
      </p:sp>
      <p:sp>
        <p:nvSpPr>
          <p:cNvPr id="10" name="bullet-9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metrics 提供安全的營運統計欄位，支援趨勢查詢</a:t>
            </a:r>
          </a:p>
        </p:txBody>
      </p:sp>
      <p:sp>
        <p:nvSpPr>
          <p:cNvPr id="11" name="bullet-9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問題與回答暫存最長 30-day lifecycle，之後由清理流程移除</a:t>
            </a:r>
          </a:p>
        </p:txBody>
      </p:sp>
      <p:sp>
        <p:nvSpPr>
          <p:cNvPr id="12" name="data-node-question-record"/>
          <p:cNvSpPr/>
          <p:nvPr/>
        </p:nvSpPr>
        <p:spPr>
          <a:xfrm>
            <a:off x="731520" y="1874519"/>
            <a:ext cx="2971800" cy="48463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D1 問題紀錄</a:t>
            </a:r>
          </a:p>
        </p:txBody>
      </p:sp>
      <p:sp>
        <p:nvSpPr>
          <p:cNvPr id="13" name="data-node-weather-cache"/>
          <p:cNvSpPr/>
          <p:nvPr/>
        </p:nvSpPr>
        <p:spPr>
          <a:xfrm>
            <a:off x="4434840" y="1874519"/>
            <a:ext cx="2971800" cy="48463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weather cache</a:t>
            </a:r>
          </a:p>
        </p:txBody>
      </p:sp>
      <p:sp>
        <p:nvSpPr>
          <p:cNvPr id="14" name="data-node-group-settings"/>
          <p:cNvSpPr/>
          <p:nvPr/>
        </p:nvSpPr>
        <p:spPr>
          <a:xfrm>
            <a:off x="8138160" y="1874519"/>
            <a:ext cx="2971800" cy="48463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group settings</a:t>
            </a:r>
          </a:p>
        </p:txBody>
      </p:sp>
      <p:sp>
        <p:nvSpPr>
          <p:cNvPr id="15" name="data-node-metrics"/>
          <p:cNvSpPr/>
          <p:nvPr/>
        </p:nvSpPr>
        <p:spPr>
          <a:xfrm>
            <a:off x="731520" y="2651760"/>
            <a:ext cx="2971800" cy="48463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metrics</a:t>
            </a:r>
          </a:p>
        </p:txBody>
      </p:sp>
      <p:sp>
        <p:nvSpPr>
          <p:cNvPr id="16" name="data-node-lifecycle"/>
          <p:cNvSpPr/>
          <p:nvPr/>
        </p:nvSpPr>
        <p:spPr>
          <a:xfrm>
            <a:off x="4434840" y="2651760"/>
            <a:ext cx="2971800" cy="48463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30-day lifecycle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0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0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安全、隱私與機密管理</a:t>
            </a:r>
          </a:p>
        </p:txBody>
      </p:sp>
      <p:sp>
        <p:nvSpPr>
          <p:cNvPr id="5" name="conclusion-10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機密值透過 Cloudflare secrets 管理，不寫入原始碼或簡報</a:t>
            </a:r>
          </a:p>
        </p:txBody>
      </p:sp>
      <p:sp>
        <p:nvSpPr>
          <p:cNvPr id="6" name="footer-10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0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10 / 16</a:t>
            </a:r>
          </a:p>
        </p:txBody>
      </p:sp>
      <p:sp>
        <p:nvSpPr>
          <p:cNvPr id="8" name="bullet-10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機密值透過 Cloudflare secrets 管理，不寫入原始碼或簡報</a:t>
            </a:r>
          </a:p>
        </p:txBody>
      </p:sp>
      <p:sp>
        <p:nvSpPr>
          <p:cNvPr id="9" name="bullet-10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正常營運日誌只保留允許的結構化欄位與安全錯誤分類</a:t>
            </a:r>
          </a:p>
        </p:txBody>
      </p:sp>
      <p:sp>
        <p:nvSpPr>
          <p:cNvPr id="10" name="bullet-10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日誌不得包含訊息原文、回答全文、LINE 識別碼或原始供應商錯誤</a:t>
            </a:r>
          </a:p>
        </p:txBody>
      </p:sp>
      <p:sp>
        <p:nvSpPr>
          <p:cNvPr id="11" name="bullet-10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Traces 在第一階段維持停用，避免外部 URL 帶入使用者衍生資訊</a:t>
            </a:r>
          </a:p>
        </p:txBody>
      </p:sp>
      <p:sp>
        <p:nvSpPr>
          <p:cNvPr id="12" name="privacy-layer-logs"/>
          <p:cNvSpPr/>
          <p:nvPr/>
        </p:nvSpPr>
        <p:spPr>
          <a:xfrm>
            <a:off x="822960" y="2148840"/>
            <a:ext cx="2788920" cy="62179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Workers Logs</a:t>
            </a:r>
          </a:p>
        </p:txBody>
      </p:sp>
      <p:sp>
        <p:nvSpPr>
          <p:cNvPr id="13" name="privacy-layer-d1"/>
          <p:cNvSpPr/>
          <p:nvPr/>
        </p:nvSpPr>
        <p:spPr>
          <a:xfrm>
            <a:off x="4572000" y="2148840"/>
            <a:ext cx="2788920" cy="62179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D1</a:t>
            </a:r>
          </a:p>
        </p:txBody>
      </p:sp>
      <p:sp>
        <p:nvSpPr>
          <p:cNvPr id="14" name="privacy-layer-secrets"/>
          <p:cNvSpPr/>
          <p:nvPr/>
        </p:nvSpPr>
        <p:spPr>
          <a:xfrm>
            <a:off x="8321040" y="2148840"/>
            <a:ext cx="2788920" cy="62179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Cloudflare secrets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1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1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可觀測性與故障追蹤</a:t>
            </a:r>
          </a:p>
        </p:txBody>
      </p:sp>
      <p:sp>
        <p:nvSpPr>
          <p:cNvPr id="5" name="conclusion-11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webhookEventId 串起已解析 LINE 事件在 webhook 與 Queue 的處理鏈</a:t>
            </a:r>
          </a:p>
        </p:txBody>
      </p:sp>
      <p:sp>
        <p:nvSpPr>
          <p:cNvPr id="6" name="footer-11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1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11 / 16</a:t>
            </a:r>
          </a:p>
        </p:txBody>
      </p:sp>
      <p:sp>
        <p:nvSpPr>
          <p:cNvPr id="8" name="bullet-11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webhookEventId 串起已解析 LINE 事件在 webhook 與 Queue 的處理鏈</a:t>
            </a:r>
          </a:p>
        </p:txBody>
      </p:sp>
      <p:sp>
        <p:nvSpPr>
          <p:cNvPr id="9" name="bullet-11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operationId 用於解析前拒絕事件與定期清理等獨立操作</a:t>
            </a:r>
          </a:p>
        </p:txBody>
      </p:sp>
      <p:sp>
        <p:nvSpPr>
          <p:cNvPr id="10" name="bullet-11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事件涵蓋 webhook、storage、answer、line、retry 與 cron 階段</a:t>
            </a:r>
          </a:p>
        </p:txBody>
      </p:sp>
      <p:sp>
        <p:nvSpPr>
          <p:cNvPr id="11" name="bullet-11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outcome、errorType、durationMs 與 retryDelaySeconds 支援故障判讀</a:t>
            </a:r>
          </a:p>
        </p:txBody>
      </p:sp>
      <p:sp>
        <p:nvSpPr>
          <p:cNvPr id="12" name="bullet-11-5"/>
          <p:cNvSpPr/>
          <p:nvPr/>
        </p:nvSpPr>
        <p:spPr>
          <a:xfrm>
            <a:off x="4315968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Workers Logs 以結構化欄位支援 Query Builder 查詢</a:t>
            </a:r>
          </a:p>
        </p:txBody>
      </p:sp>
      <p:sp>
        <p:nvSpPr>
          <p:cNvPr id="13" name="observability-correlation-webhook"/>
          <p:cNvSpPr/>
          <p:nvPr/>
        </p:nvSpPr>
        <p:spPr>
          <a:xfrm>
            <a:off x="777240" y="1874519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webhookEventId</a:t>
            </a:r>
          </a:p>
        </p:txBody>
      </p:sp>
      <p:sp>
        <p:nvSpPr>
          <p:cNvPr id="14" name="observability-correlation-operation"/>
          <p:cNvSpPr/>
          <p:nvPr/>
        </p:nvSpPr>
        <p:spPr>
          <a:xfrm>
            <a:off x="3154680" y="1874519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operationId</a:t>
            </a:r>
          </a:p>
        </p:txBody>
      </p:sp>
      <p:sp>
        <p:nvSpPr>
          <p:cNvPr id="15" name="observability-event-1"/>
          <p:cNvSpPr/>
          <p:nvPr/>
        </p:nvSpPr>
        <p:spPr>
          <a:xfrm>
            <a:off x="777240" y="2788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00" b="0">
                <a:solidFill>
                  <a:srgbClr val="F4F8FC"/>
                </a:solidFill>
                <a:latin typeface="Microsoft JhengHei"/>
              </a:rPr>
              <a:t>webhook.enqueue.completed</a:t>
            </a:r>
          </a:p>
        </p:txBody>
      </p:sp>
      <p:sp>
        <p:nvSpPr>
          <p:cNvPr id="16" name="observability-event-2"/>
          <p:cNvSpPr/>
          <p:nvPr/>
        </p:nvSpPr>
        <p:spPr>
          <a:xfrm>
            <a:off x="2953512" y="2788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00" b="0">
                <a:solidFill>
                  <a:srgbClr val="F4F8FC"/>
                </a:solidFill>
                <a:latin typeface="Microsoft JhengHei"/>
              </a:rPr>
              <a:t>question.started</a:t>
            </a:r>
          </a:p>
        </p:txBody>
      </p:sp>
      <p:cxnSp>
        <p:nvCxnSpPr>
          <p:cNvPr id="17" name="observability-connector-1"/>
          <p:cNvCxnSpPr/>
          <p:nvPr/>
        </p:nvCxnSpPr>
        <p:spPr>
          <a:xfrm>
            <a:off x="2606040" y="3017520"/>
            <a:ext cx="347472" cy="0"/>
          </a:xfrm>
          <a:prstGeom prst="line">
            <a:avLst/>
          </a:prstGeom>
          <a:ln w="22860">
            <a:solidFill>
              <a:srgbClr val="FFBE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servability-event-3"/>
          <p:cNvSpPr/>
          <p:nvPr/>
        </p:nvSpPr>
        <p:spPr>
          <a:xfrm>
            <a:off x="5129783" y="2788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00" b="0">
                <a:solidFill>
                  <a:srgbClr val="F4F8FC"/>
                </a:solidFill>
                <a:latin typeface="Microsoft JhengHei"/>
              </a:rPr>
              <a:t>storage.claim.completed</a:t>
            </a:r>
          </a:p>
        </p:txBody>
      </p:sp>
      <p:cxnSp>
        <p:nvCxnSpPr>
          <p:cNvPr id="19" name="observability-connector-2"/>
          <p:cNvCxnSpPr/>
          <p:nvPr/>
        </p:nvCxnSpPr>
        <p:spPr>
          <a:xfrm>
            <a:off x="4782312" y="3017520"/>
            <a:ext cx="347471" cy="0"/>
          </a:xfrm>
          <a:prstGeom prst="line">
            <a:avLst/>
          </a:prstGeom>
          <a:ln w="22860">
            <a:solidFill>
              <a:srgbClr val="FFBE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bservability-event-4"/>
          <p:cNvSpPr/>
          <p:nvPr/>
        </p:nvSpPr>
        <p:spPr>
          <a:xfrm>
            <a:off x="7306055" y="2788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00" b="0">
                <a:solidFill>
                  <a:srgbClr val="F4F8FC"/>
                </a:solidFill>
                <a:latin typeface="Microsoft JhengHei"/>
              </a:rPr>
              <a:t>answer.completed</a:t>
            </a:r>
          </a:p>
        </p:txBody>
      </p:sp>
      <p:cxnSp>
        <p:nvCxnSpPr>
          <p:cNvPr id="21" name="observability-connector-3"/>
          <p:cNvCxnSpPr/>
          <p:nvPr/>
        </p:nvCxnSpPr>
        <p:spPr>
          <a:xfrm>
            <a:off x="6958583" y="3017520"/>
            <a:ext cx="347472" cy="0"/>
          </a:xfrm>
          <a:prstGeom prst="line">
            <a:avLst/>
          </a:prstGeom>
          <a:ln w="22860">
            <a:solidFill>
              <a:srgbClr val="FFBE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bservability-event-5"/>
          <p:cNvSpPr/>
          <p:nvPr/>
        </p:nvSpPr>
        <p:spPr>
          <a:xfrm>
            <a:off x="9482328" y="2788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200" b="0">
                <a:solidFill>
                  <a:srgbClr val="F4F8FC"/>
                </a:solidFill>
                <a:latin typeface="Microsoft JhengHei"/>
              </a:rPr>
              <a:t>line.reply.completed</a:t>
            </a:r>
          </a:p>
        </p:txBody>
      </p:sp>
      <p:cxnSp>
        <p:nvCxnSpPr>
          <p:cNvPr id="23" name="observability-connector-4"/>
          <p:cNvCxnSpPr/>
          <p:nvPr/>
        </p:nvCxnSpPr>
        <p:spPr>
          <a:xfrm>
            <a:off x="9134855" y="3017520"/>
            <a:ext cx="347473" cy="0"/>
          </a:xfrm>
          <a:prstGeom prst="line">
            <a:avLst/>
          </a:prstGeom>
          <a:ln w="22860">
            <a:solidFill>
              <a:srgbClr val="FFBE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2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2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自動化測試與品質閘門</a:t>
            </a:r>
          </a:p>
        </p:txBody>
      </p:sp>
      <p:sp>
        <p:nvSpPr>
          <p:cNvPr id="5" name="conclusion-12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主線 134 項通過，提供核心流程的開發環境回歸保護</a:t>
            </a:r>
          </a:p>
        </p:txBody>
      </p:sp>
      <p:sp>
        <p:nvSpPr>
          <p:cNvPr id="6" name="footer-12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2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12 / 16</a:t>
            </a:r>
          </a:p>
        </p:txBody>
      </p:sp>
      <p:sp>
        <p:nvSpPr>
          <p:cNvPr id="8" name="bullet-12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主線 134 項通過，提供核心流程的開發環境回歸保護</a:t>
            </a:r>
          </a:p>
        </p:txBody>
      </p:sp>
      <p:sp>
        <p:nvSpPr>
          <p:cNvPr id="9" name="bullet-12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知識搜尋 421 項通過，另有 1 項完整流程測試超過 5 秒</a:t>
            </a:r>
          </a:p>
        </p:txBody>
      </p:sp>
      <p:sp>
        <p:nvSpPr>
          <p:cNvPr id="10" name="bullet-12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設定檢查待更新：主線雲端設定型別宣告尚未完成</a:t>
            </a:r>
          </a:p>
        </p:txBody>
      </p:sp>
      <p:sp>
        <p:nvSpPr>
          <p:cNvPr id="11" name="bullet-12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品質閘門包含鎖定安裝、綁定檢查、測試、型別檢查與 dry-run</a:t>
            </a:r>
          </a:p>
        </p:txBody>
      </p:sp>
      <p:sp>
        <p:nvSpPr>
          <p:cNvPr id="12" name="bullet-12-5"/>
          <p:cNvSpPr/>
          <p:nvPr/>
        </p:nvSpPr>
        <p:spPr>
          <a:xfrm>
            <a:off x="4315968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開發環境驗證不等同正式部署或 production smoke 驗收</a:t>
            </a:r>
          </a:p>
        </p:txBody>
      </p:sp>
      <p:sp>
        <p:nvSpPr>
          <p:cNvPr id="13" name="quality-gate-main"/>
          <p:cNvSpPr/>
          <p:nvPr/>
        </p:nvSpPr>
        <p:spPr>
          <a:xfrm>
            <a:off x="822960" y="196596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主線 134 通過</a:t>
            </a:r>
          </a:p>
        </p:txBody>
      </p:sp>
      <p:sp>
        <p:nvSpPr>
          <p:cNvPr id="14" name="quality-gate-knowledge"/>
          <p:cNvSpPr/>
          <p:nvPr/>
        </p:nvSpPr>
        <p:spPr>
          <a:xfrm>
            <a:off x="6309360" y="196596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知識搜尋 421 通過</a:t>
            </a:r>
          </a:p>
        </p:txBody>
      </p:sp>
      <p:sp>
        <p:nvSpPr>
          <p:cNvPr id="15" name="quality-gate-timeout"/>
          <p:cNvSpPr/>
          <p:nvPr/>
        </p:nvSpPr>
        <p:spPr>
          <a:xfrm>
            <a:off x="822960" y="278892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1 項超過 5 秒</a:t>
            </a:r>
          </a:p>
        </p:txBody>
      </p:sp>
      <p:sp>
        <p:nvSpPr>
          <p:cNvPr id="16" name="quality-gate-predeploy"/>
          <p:cNvSpPr/>
          <p:nvPr/>
        </p:nvSpPr>
        <p:spPr>
          <a:xfrm>
            <a:off x="6309360" y="278892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400" b="1">
                <a:solidFill>
                  <a:srgbClr val="F4F8FC"/>
                </a:solidFill>
                <a:latin typeface="Microsoft JhengHei"/>
              </a:rPr>
              <a:t>設定檢查待更新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3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3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知識搜尋技術架構（開發中）</a:t>
            </a:r>
          </a:p>
        </p:txBody>
      </p:sp>
      <p:sp>
        <p:nvSpPr>
          <p:cNvPr id="5" name="conclusion-13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**開發中**：功能位於獨立分支，尚未合併至主線或正式部署</a:t>
            </a:r>
          </a:p>
        </p:txBody>
      </p:sp>
      <p:sp>
        <p:nvSpPr>
          <p:cNvPr id="6" name="footer-13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3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13 / 16</a:t>
            </a:r>
          </a:p>
        </p:txBody>
      </p:sp>
      <p:sp>
        <p:nvSpPr>
          <p:cNvPr id="8" name="bullet-13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**開發中**：功能位於獨立分支，尚未合併至主線或正式部署</a:t>
            </a:r>
          </a:p>
        </p:txBody>
      </p:sp>
      <p:sp>
        <p:nvSpPr>
          <p:cNvPr id="9" name="bullet-13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R2 保存來源內容，ingestion queue 協調背景匯入工作</a:t>
            </a:r>
          </a:p>
        </p:txBody>
      </p:sp>
      <p:sp>
        <p:nvSpPr>
          <p:cNvPr id="10" name="bullet-13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Workers AI 進行文件轉換與 embeddings，Vectorize 提供相似度索引</a:t>
            </a:r>
          </a:p>
        </p:txBody>
      </p:sp>
      <p:sp>
        <p:nvSpPr>
          <p:cNvPr id="11" name="bullet-13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retrieval 取回可用證據，再由 grounded answer 產生附依據的回答</a:t>
            </a:r>
          </a:p>
        </p:txBody>
      </p:sp>
      <p:sp>
        <p:nvSpPr>
          <p:cNvPr id="12" name="bullet-13-5"/>
          <p:cNvSpPr/>
          <p:nvPr/>
        </p:nvSpPr>
        <p:spPr>
          <a:xfrm>
            <a:off x="4315968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文件與 URL 匯入、Tavily 搜尋與生命週期管理已有相關實作與測試</a:t>
            </a:r>
          </a:p>
        </p:txBody>
      </p:sp>
      <p:sp>
        <p:nvSpPr>
          <p:cNvPr id="13" name="knowledge-node-r2"/>
          <p:cNvSpPr/>
          <p:nvPr/>
        </p:nvSpPr>
        <p:spPr>
          <a:xfrm>
            <a:off x="777240" y="1828800"/>
            <a:ext cx="2834640" cy="49377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r2</a:t>
            </a:r>
          </a:p>
        </p:txBody>
      </p:sp>
      <p:sp>
        <p:nvSpPr>
          <p:cNvPr id="14" name="knowledge-node-ingestion-queue"/>
          <p:cNvSpPr/>
          <p:nvPr/>
        </p:nvSpPr>
        <p:spPr>
          <a:xfrm>
            <a:off x="4480559" y="1828800"/>
            <a:ext cx="2834640" cy="49377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ingestion-queue</a:t>
            </a:r>
          </a:p>
        </p:txBody>
      </p:sp>
      <p:sp>
        <p:nvSpPr>
          <p:cNvPr id="15" name="knowledge-node-workers-ai"/>
          <p:cNvSpPr/>
          <p:nvPr/>
        </p:nvSpPr>
        <p:spPr>
          <a:xfrm>
            <a:off x="8183879" y="1828800"/>
            <a:ext cx="2834640" cy="49377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workers-ai</a:t>
            </a:r>
          </a:p>
        </p:txBody>
      </p:sp>
      <p:sp>
        <p:nvSpPr>
          <p:cNvPr id="16" name="knowledge-node-vectorize"/>
          <p:cNvSpPr/>
          <p:nvPr/>
        </p:nvSpPr>
        <p:spPr>
          <a:xfrm>
            <a:off x="777240" y="2633472"/>
            <a:ext cx="2834640" cy="49377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vectorize</a:t>
            </a:r>
          </a:p>
        </p:txBody>
      </p:sp>
      <p:sp>
        <p:nvSpPr>
          <p:cNvPr id="17" name="knowledge-node-retrieval"/>
          <p:cNvSpPr/>
          <p:nvPr/>
        </p:nvSpPr>
        <p:spPr>
          <a:xfrm>
            <a:off x="4480559" y="2633472"/>
            <a:ext cx="2834640" cy="49377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retrieval</a:t>
            </a:r>
          </a:p>
        </p:txBody>
      </p:sp>
      <p:sp>
        <p:nvSpPr>
          <p:cNvPr id="18" name="knowledge-node-grounded-answer"/>
          <p:cNvSpPr/>
          <p:nvPr/>
        </p:nvSpPr>
        <p:spPr>
          <a:xfrm>
            <a:off x="8183879" y="2633472"/>
            <a:ext cx="2834640" cy="493776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grounded-answer</a:t>
            </a:r>
          </a:p>
        </p:txBody>
      </p:sp>
      <p:sp>
        <p:nvSpPr>
          <p:cNvPr id="19" name="development-status-13"/>
          <p:cNvSpPr/>
          <p:nvPr/>
        </p:nvSpPr>
        <p:spPr>
          <a:xfrm>
            <a:off x="9601200" y="2834640"/>
            <a:ext cx="1463040" cy="420624"/>
          </a:xfrm>
          <a:prstGeom prst="roundRect">
            <a:avLst>
              <a:gd name="adj" fmla="val 10000"/>
            </a:avLst>
          </a:prstGeom>
          <a:solidFill>
            <a:srgbClr val="FFBE55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300" b="1">
                <a:solidFill>
                  <a:srgbClr val="F4F8FC"/>
                </a:solidFill>
                <a:latin typeface="Microsoft JhengHei"/>
              </a:rPr>
              <a:t>開發中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4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4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4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現階段技術成熟度</a:t>
            </a:r>
          </a:p>
        </p:txBody>
      </p:sp>
      <p:sp>
        <p:nvSpPr>
          <p:cNvPr id="5" name="conclusion-14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已完成：LINE 主流程、Queue、Workers AI、D1、天氣快取與結構化觀測</a:t>
            </a:r>
          </a:p>
        </p:txBody>
      </p:sp>
      <p:sp>
        <p:nvSpPr>
          <p:cNvPr id="6" name="footer-14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4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14 / 16</a:t>
            </a:r>
          </a:p>
        </p:txBody>
      </p:sp>
      <p:sp>
        <p:nvSpPr>
          <p:cNvPr id="8" name="bullet-14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已完成：LINE 主流程、Queue、Workers AI、D1、天氣快取與結構化觀測</a:t>
            </a:r>
          </a:p>
        </p:txBody>
      </p:sp>
      <p:sp>
        <p:nvSpPr>
          <p:cNvPr id="9" name="bullet-14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開發中：知識搜尋、文件與 URL 匯入、引用式回答與即時搜尋整合</a:t>
            </a:r>
          </a:p>
        </p:txBody>
      </p:sp>
      <p:sp>
        <p:nvSpPr>
          <p:cNvPr id="10" name="bullet-14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待正式環境驗證：部署、LINE 實機、Logs、Queue、D1 與 production smoke</a:t>
            </a:r>
          </a:p>
        </p:txBody>
      </p:sp>
      <p:sp>
        <p:nvSpPr>
          <p:cNvPr id="11" name="bullet-14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待合併前驗證：知識搜尋 E2E timeout 與主線設定型別宣告更新</a:t>
            </a:r>
          </a:p>
        </p:txBody>
      </p:sp>
      <p:sp>
        <p:nvSpPr>
          <p:cNvPr id="12" name="maturity-matrix-14"/>
          <p:cNvSpPr/>
          <p:nvPr/>
        </p:nvSpPr>
        <p:spPr>
          <a:xfrm>
            <a:off x="777240" y="1938528"/>
            <a:ext cx="10561320" cy="62179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500" b="1">
                <a:solidFill>
                  <a:srgbClr val="F4F8FC"/>
                </a:solidFill>
                <a:latin typeface="Microsoft JhengHei"/>
              </a:rPr>
              <a:t>已完成｜開發中｜待合併前驗證｜待正式環境驗證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5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5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技術風險與改善計畫</a:t>
            </a:r>
          </a:p>
        </p:txBody>
      </p:sp>
      <p:sp>
        <p:nvSpPr>
          <p:cNvPr id="5" name="conclusion-15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先修正知識搜尋 E2E timeout，避免完整流程長時間無法收斂</a:t>
            </a:r>
          </a:p>
        </p:txBody>
      </p:sp>
      <p:sp>
        <p:nvSpPr>
          <p:cNvPr id="6" name="footer-15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5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15 / 16</a:t>
            </a:r>
          </a:p>
        </p:txBody>
      </p:sp>
      <p:sp>
        <p:nvSpPr>
          <p:cNvPr id="8" name="bullet-15-1"/>
          <p:cNvSpPr/>
          <p:nvPr/>
        </p:nvSpPr>
        <p:spPr>
          <a:xfrm>
            <a:off x="640080" y="1874519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先修正知識搜尋 E2E timeout，避免完整流程長時間無法收斂</a:t>
            </a:r>
          </a:p>
        </p:txBody>
      </p:sp>
      <p:sp>
        <p:nvSpPr>
          <p:cNvPr id="9" name="bullet-15-2"/>
          <p:cNvSpPr/>
          <p:nvPr/>
        </p:nvSpPr>
        <p:spPr>
          <a:xfrm>
            <a:off x="6236208" y="1874519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更新主線雲端設定型別宣告，恢復完整上線前檢查</a:t>
            </a:r>
          </a:p>
        </p:txBody>
      </p:sp>
      <p:sp>
        <p:nvSpPr>
          <p:cNvPr id="10" name="bullet-15-3"/>
          <p:cNvSpPr/>
          <p:nvPr/>
        </p:nvSpPr>
        <p:spPr>
          <a:xfrm>
            <a:off x="640080" y="4027931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對未提交的知識搜尋修改進行整理、審查與測試</a:t>
            </a:r>
          </a:p>
        </p:txBody>
      </p:sp>
      <p:sp>
        <p:nvSpPr>
          <p:cNvPr id="11" name="bullet-15-4"/>
          <p:cNvSpPr/>
          <p:nvPr/>
        </p:nvSpPr>
        <p:spPr>
          <a:xfrm>
            <a:off x="6236208" y="4027931"/>
            <a:ext cx="5321808" cy="2007107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部署前審查 migration 相容性，部署後執行健康、LINE、Logs、Queue 與 D1 驗收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-16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1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16"/>
          <p:cNvSpPr txBox="1"/>
          <p:nvPr/>
        </p:nvSpPr>
        <p:spPr>
          <a:xfrm>
            <a:off x="640080" y="219456"/>
            <a:ext cx="4572000" cy="201168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50" b="1">
                <a:solidFill>
                  <a:srgbClr val="21D4B4"/>
                </a:solidFill>
                <a:latin typeface="Microsoft JhengHei"/>
              </a:rPr>
              <a:t>AI-CHOTBOT · TECHNICAL ACHIEVEMENTS</a:t>
            </a:r>
          </a:p>
        </p:txBody>
      </p:sp>
      <p:sp>
        <p:nvSpPr>
          <p:cNvPr id="4" name="title-16"/>
          <p:cNvSpPr txBox="1"/>
          <p:nvPr/>
        </p:nvSpPr>
        <p:spPr>
          <a:xfrm>
            <a:off x="640080" y="475488"/>
            <a:ext cx="10972800" cy="45720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Microsoft JhengHei"/>
              </a:rPr>
              <a:t>下一階段工程路線圖</a:t>
            </a:r>
          </a:p>
        </p:txBody>
      </p:sp>
      <p:sp>
        <p:nvSpPr>
          <p:cNvPr id="5" name="conclusion-16"/>
          <p:cNvSpPr/>
          <p:nvPr/>
        </p:nvSpPr>
        <p:spPr>
          <a:xfrm>
            <a:off x="640080" y="10607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1">
                <a:solidFill>
                  <a:srgbClr val="F4F8FC"/>
                </a:solidFill>
                <a:latin typeface="Microsoft JhengHei"/>
              </a:rPr>
              <a:t>1. 完成分支：整理知識搜尋修改並完成審查</a:t>
            </a:r>
          </a:p>
        </p:txBody>
      </p:sp>
      <p:sp>
        <p:nvSpPr>
          <p:cNvPr id="6" name="footer-16"/>
          <p:cNvSpPr txBox="1"/>
          <p:nvPr/>
        </p:nvSpPr>
        <p:spPr>
          <a:xfrm>
            <a:off x="640080" y="6473952"/>
            <a:ext cx="4572000" cy="164592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l"/>
            <a:r>
              <a:rPr sz="800" b="0">
                <a:solidFill>
                  <a:srgbClr val="A9BCD0"/>
                </a:solidFill>
                <a:latin typeface="Microsoft JhengHei"/>
              </a:rPr>
              <a:t>16 頁技術成果與工程治理簡報</a:t>
            </a:r>
          </a:p>
        </p:txBody>
      </p:sp>
      <p:sp>
        <p:nvSpPr>
          <p:cNvPr id="7" name="page-number-16"/>
          <p:cNvSpPr txBox="1"/>
          <p:nvPr/>
        </p:nvSpPr>
        <p:spPr>
          <a:xfrm>
            <a:off x="10698480" y="6437376"/>
            <a:ext cx="731520" cy="182880"/>
          </a:xfrm>
          <a:prstGeom prst="rect">
            <a:avLst/>
          </a:prstGeom>
          <a:noFill/>
        </p:spPr>
        <p:txBody>
          <a:bodyPr wrap="square" lIns="109728" rIns="109728" tIns="64008" bIns="64008" anchor="ctr">
            <a:spAutoFit/>
          </a:bodyPr>
          <a:lstStyle/>
          <a:p>
            <a:pPr algn="r"/>
            <a:r>
              <a:rPr sz="850" b="1">
                <a:solidFill>
                  <a:srgbClr val="A9BCD0"/>
                </a:solidFill>
                <a:latin typeface="Microsoft JhengHei"/>
              </a:rPr>
              <a:t>16 / 16</a:t>
            </a:r>
          </a:p>
        </p:txBody>
      </p:sp>
      <p:sp>
        <p:nvSpPr>
          <p:cNvPr id="8" name="bullet-16-1"/>
          <p:cNvSpPr/>
          <p:nvPr/>
        </p:nvSpPr>
        <p:spPr>
          <a:xfrm>
            <a:off x="640080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1. 完成分支：整理知識搜尋修改並完成審查</a:t>
            </a:r>
          </a:p>
        </p:txBody>
      </p:sp>
      <p:sp>
        <p:nvSpPr>
          <p:cNvPr id="9" name="bullet-16-2"/>
          <p:cNvSpPr/>
          <p:nvPr/>
        </p:nvSpPr>
        <p:spPr>
          <a:xfrm>
            <a:off x="4315968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2. 自動化驗證：修正逾時並重跑品質閘門</a:t>
            </a:r>
          </a:p>
        </p:txBody>
      </p:sp>
      <p:sp>
        <p:nvSpPr>
          <p:cNvPr id="10" name="bullet-16-3"/>
          <p:cNvSpPr/>
          <p:nvPr/>
        </p:nvSpPr>
        <p:spPr>
          <a:xfrm>
            <a:off x="7991855" y="507492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3. 合併：確認相容性與測試結果後納入主線</a:t>
            </a:r>
          </a:p>
        </p:txBody>
      </p:sp>
      <p:sp>
        <p:nvSpPr>
          <p:cNvPr id="11" name="bullet-16-4"/>
          <p:cNvSpPr/>
          <p:nvPr/>
        </p:nvSpPr>
        <p:spPr>
          <a:xfrm>
            <a:off x="640080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4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4. 正式部署：依 migration 與部署程序建立可回復版本</a:t>
            </a:r>
          </a:p>
        </p:txBody>
      </p:sp>
      <p:sp>
        <p:nvSpPr>
          <p:cNvPr id="12" name="bullet-16-5"/>
          <p:cNvSpPr/>
          <p:nvPr/>
        </p:nvSpPr>
        <p:spPr>
          <a:xfrm>
            <a:off x="4315968" y="5696712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l"/>
            <a:r>
              <a:rPr sz="1600" b="0">
                <a:solidFill>
                  <a:srgbClr val="F4F8FC"/>
                </a:solidFill>
                <a:latin typeface="Microsoft JhengHei"/>
              </a:rPr>
              <a:t>5. 實機驗收：完成 LINE、Logs、Queue、D1 與隱私檢查</a:t>
            </a:r>
          </a:p>
        </p:txBody>
      </p:sp>
      <p:sp>
        <p:nvSpPr>
          <p:cNvPr id="13" name="roadmap-step-1"/>
          <p:cNvSpPr/>
          <p:nvPr/>
        </p:nvSpPr>
        <p:spPr>
          <a:xfrm>
            <a:off x="777240" y="19202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600" b="1">
                <a:solidFill>
                  <a:srgbClr val="F4F8FC"/>
                </a:solidFill>
                <a:latin typeface="Microsoft JhengHei"/>
              </a:rPr>
              <a:t>1. 完成分支</a:t>
            </a:r>
          </a:p>
        </p:txBody>
      </p:sp>
      <p:sp>
        <p:nvSpPr>
          <p:cNvPr id="14" name="roadmap-step-2"/>
          <p:cNvSpPr/>
          <p:nvPr/>
        </p:nvSpPr>
        <p:spPr>
          <a:xfrm>
            <a:off x="3017520" y="19202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600" b="1">
                <a:solidFill>
                  <a:srgbClr val="F4F8FC"/>
                </a:solidFill>
                <a:latin typeface="Microsoft JhengHei"/>
              </a:rPr>
              <a:t>2. 自動化驗證</a:t>
            </a:r>
          </a:p>
        </p:txBody>
      </p:sp>
      <p:cxnSp>
        <p:nvCxnSpPr>
          <p:cNvPr id="15" name="roadmap-connector-1"/>
          <p:cNvCxnSpPr/>
          <p:nvPr/>
        </p:nvCxnSpPr>
        <p:spPr>
          <a:xfrm>
            <a:off x="2743200" y="2377440"/>
            <a:ext cx="274320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admap-step-3"/>
          <p:cNvSpPr/>
          <p:nvPr/>
        </p:nvSpPr>
        <p:spPr>
          <a:xfrm>
            <a:off x="5257800" y="19202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21D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600" b="1">
                <a:solidFill>
                  <a:srgbClr val="F4F8FC"/>
                </a:solidFill>
                <a:latin typeface="Microsoft JhengHei"/>
              </a:rPr>
              <a:t>3. 合併</a:t>
            </a:r>
          </a:p>
        </p:txBody>
      </p:sp>
      <p:cxnSp>
        <p:nvCxnSpPr>
          <p:cNvPr id="17" name="roadmap-connector-2"/>
          <p:cNvCxnSpPr/>
          <p:nvPr/>
        </p:nvCxnSpPr>
        <p:spPr>
          <a:xfrm>
            <a:off x="4983480" y="2377440"/>
            <a:ext cx="274320" cy="0"/>
          </a:xfrm>
          <a:prstGeom prst="line">
            <a:avLst/>
          </a:prstGeom>
          <a:ln w="22860">
            <a:solidFill>
              <a:srgbClr val="21D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admap-step-4"/>
          <p:cNvSpPr/>
          <p:nvPr/>
        </p:nvSpPr>
        <p:spPr>
          <a:xfrm>
            <a:off x="7498080" y="19202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600" b="1">
                <a:solidFill>
                  <a:srgbClr val="F4F8FC"/>
                </a:solidFill>
                <a:latin typeface="Microsoft JhengHei"/>
              </a:rPr>
              <a:t>4. 正式部署</a:t>
            </a:r>
          </a:p>
        </p:txBody>
      </p:sp>
      <p:cxnSp>
        <p:nvCxnSpPr>
          <p:cNvPr id="19" name="roadmap-connector-3"/>
          <p:cNvCxnSpPr/>
          <p:nvPr/>
        </p:nvCxnSpPr>
        <p:spPr>
          <a:xfrm>
            <a:off x="7223760" y="2377440"/>
            <a:ext cx="274320" cy="0"/>
          </a:xfrm>
          <a:prstGeom prst="line">
            <a:avLst/>
          </a:prstGeom>
          <a:ln w="22860">
            <a:solidFill>
              <a:srgbClr val="FFBE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admap-step-5"/>
          <p:cNvSpPr/>
          <p:nvPr/>
        </p:nvSpPr>
        <p:spPr>
          <a:xfrm>
            <a:off x="9738360" y="19202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02B46"/>
          </a:solidFill>
          <a:ln w="13970">
            <a:solidFill>
              <a:srgbClr val="FFB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600" b="1">
                <a:solidFill>
                  <a:srgbClr val="F4F8FC"/>
                </a:solidFill>
                <a:latin typeface="Microsoft JhengHei"/>
              </a:rPr>
              <a:t>5. 實機驗收</a:t>
            </a:r>
          </a:p>
        </p:txBody>
      </p:sp>
      <p:cxnSp>
        <p:nvCxnSpPr>
          <p:cNvPr id="21" name="roadmap-connector-4"/>
          <p:cNvCxnSpPr/>
          <p:nvPr/>
        </p:nvCxnSpPr>
        <p:spPr>
          <a:xfrm>
            <a:off x="9464040" y="2377440"/>
            <a:ext cx="274320" cy="0"/>
          </a:xfrm>
          <a:prstGeom prst="line">
            <a:avLst/>
          </a:prstGeom>
          <a:ln w="22860">
            <a:solidFill>
              <a:srgbClr val="FFBE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