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今天用約十五至二十分鐘，帶各位從跑步社群的需求出發，了解這個 LINE AI 助理已完成的能力、仍在開發的知識搜尋，以及正式上線前必須完成的驗證。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跑者真正需要的不是更多連結，而是能在熟悉的 LINE 社群中快速取得訓練與天氣重點。對社群管理者而言，也需要降低重複回答的負擔，同時維持一致品質。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這套方案像一位設在 LINE 跑步社群裡的 AI 助理：先確認問題可安全處理，再依問題類型取得資訊或由模型整理回答，最後把答案送回原本的對話。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在指定群組中，跑者需用 LINE 內建的提及方式點名機器人，例如詢問週末訓練時段的天氣。現階段可說明的是開發環境中的處理能力；指定群組的正式環境收訊、回覆與知識搜尋，仍須依序完成實機驗證與後續上線。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整體流程就像有秩序的服務櫃台：入口先確認來件，處理隊伍分散尖峰壓力，後台取得資訊並整理，再把結果送回。紀錄採分層管理：Workers Logs 不寫入訊息原文，D1 則為完成工作與診斷問題暫存問題及回答，並依最長 30 天的期限清理。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正式主分支已具備從收訊、排隊、AI 整理到回覆的完整骨架，也完成天氣整合與分層紀錄方式。品質檢查機制已建立，但本次上線前的雲端設定檢查定義仍須更新，不能視為已通過部署驗證。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目前只有天氣問題有 Open-Meteo 提供的專門資料；一般跑步問題是由模型產生，仍可能出錯，也尚未由專屬知識庫提供佐證。後續的引用式知識檢索完成並上線後，才會讓指定知識問題附上可追溯來源。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知識搜尋像替 AI 增加一座專屬圖書館，能優先使用指定內容回答。不過這部分仍在開發分支，尚未成為主分支能力；即使分支測試有結果，也還不能視為正式可用。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這些名稱看似繁多，其實是把收訊、排隊、儲存、搜尋、AI 與測試分工。表中已清楚區分主線能力與知識搜尋開發項目，避免把規劃中的元件誤認為已上線功能。</a:t>
            </a:r>
          </a:p>
          <a:p/>
          <a:p>
            <a:r>
              <a:t>技術卡片補充（技術｜狀態｜白話角色與客戶價值）：</a:t>
            </a:r>
          </a:p>
          <a:p>
            <a:r>
              <a:t>LINE Messaging API｜主線已具備｜LINE 與系統之間的收發櫃台，讓使用者留在熟悉的 LINE 完成提問與收答</a:t>
            </a:r>
          </a:p>
          <a:p>
            <a:r>
              <a:t>Cloudflare Workers｜主線已具備｜就近服務使用者的雲端接待員，可快速接收請求且不必自建伺服器</a:t>
            </a:r>
          </a:p>
          <a:p>
            <a:r>
              <a:t>Queues｜主線已具備｜尖峰時的取號碼牌系統，分散瞬間流量並降低漏單與塞車風險</a:t>
            </a:r>
          </a:p>
          <a:p>
            <a:r>
              <a:t>Workers AI｜主線已具備｜雲端 AI 工作站，協助理解、整理並產生自然語言回答</a:t>
            </a:r>
          </a:p>
          <a:p>
            <a:r>
              <a:t>D1｜主線已具備｜結構化電子資料櫃；工作紀錄會暫存問題與回答供處理與診斷，最長 30 天後清理，也保存天氣快取等需要查詢的資料</a:t>
            </a:r>
          </a:p>
          <a:p>
            <a:r>
              <a:t>R2｜知識搜尋開發中｜大型檔案倉庫，規劃經濟地存放文件與知識來源檔案</a:t>
            </a:r>
          </a:p>
          <a:p>
            <a:r>
              <a:t>Vectorize｜知識搜尋開發中｜依語意找資料的智慧索引，規劃找出意思相近的內容而不只比對關鍵字</a:t>
            </a:r>
          </a:p>
          <a:p>
            <a:r>
              <a:t>Open-Meteo｜主線已具備｜即時氣象資料站，提供可查證的天氣資訊</a:t>
            </a:r>
          </a:p>
          <a:p>
            <a:r>
              <a:t>Tavily｜知識搜尋開發中｜專為 AI 準備的網路搜尋助手，規劃協助取得較新、可整理的外部資訊</a:t>
            </a:r>
          </a:p>
          <a:p>
            <a:r>
              <a:t>Hono｜主線已具備｜輕量的網路服務骨架，讓接收與回覆流程清楚、容易維護</a:t>
            </a:r>
          </a:p>
          <a:p>
            <a:r>
              <a:t>TypeScript｜主線已採用｜會先檢查格式的工程圖，可提早發現資料與程式介面不一致</a:t>
            </a:r>
          </a:p>
          <a:p>
            <a:r>
              <a:t>Vitest｜主線已採用｜自動巡檢員，可重複驗證既有功能沒有被改壞</a:t>
            </a:r>
          </a:p>
          <a:p>
            <a:r>
              <a:t>Wrangler｜主線已採用｜雲端環境的部署遙控器，統一開發、設定、測試與發布流程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資料最少化會依紀錄用途落實。Workers Logs 用去識別化欄位觀察運作狀況，不寫入訊息原文；D1 為完成背景工作及診斷問題，會暫存問題與回答，並在最長 30 天後清理。憑證及敏感設定不會放進程式碼或簡報。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這些數字是 2026 年 7 月 30 日在開發環境執行自動化測試的結果，不代表正式環境驗收。主線核心測試全部通過；知識搜尋仍有一項完整流程測試逾時，加上上線前設定檢查尚待更新，都必須在合併與正式部署前處理。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我們用四種狀態取代容易造成誤解的百分比：已完成、開發中、待合併前驗證、待正式環境驗證。主分支核心能力已有測試證據；知識搜尋仍在分支；只有完成正式部署與實機驗收後，才能確認整體上線。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現階段要先收斂知識搜尋、修正完整流程測試逾時並清理文件中文亂碼，再更新上線前設定檢查與整理平行部署副本；完成審查與合併後，最後以正式部署及基本功能驗證確認關鍵流程。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下一階段會依「完成分支、自動化驗證、合併、正式部署、實機驗收」推進。每一步都有可查驗結果，避免把開發完成誤認為上線完成，穩健交付給使用者。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1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1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01 / 14</a:t>
            </a:r>
          </a:p>
        </p:txBody>
      </p:sp>
      <p:sp>
        <p:nvSpPr>
          <p:cNvPr id="5" name="cover-kicker-1"/>
          <p:cNvSpPr txBox="1"/>
          <p:nvPr/>
        </p:nvSpPr>
        <p:spPr>
          <a:xfrm>
            <a:off x="713232" y="512064"/>
            <a:ext cx="4297680" cy="27432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F8FC"/>
                </a:solidFill>
                <a:latin typeface="Microsoft JhengHei"/>
              </a:rPr>
              <a:t>AI-ENABLED RUNNING COMMUNITY</a:t>
            </a:r>
          </a:p>
        </p:txBody>
      </p:sp>
      <p:sp>
        <p:nvSpPr>
          <p:cNvPr id="6" name="title-1"/>
          <p:cNvSpPr txBox="1"/>
          <p:nvPr/>
        </p:nvSpPr>
        <p:spPr>
          <a:xfrm>
            <a:off x="685800" y="1024128"/>
            <a:ext cx="10789920" cy="1225296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4F8FC"/>
                </a:solidFill>
                <a:latin typeface="Microsoft JhengHei"/>
              </a:rPr>
              <a:t>讓 LINE 成為跑步社群的即時 AI 助理</a:t>
            </a:r>
          </a:p>
        </p:txBody>
      </p:sp>
      <p:sp>
        <p:nvSpPr>
          <p:cNvPr id="7" name="cover-value-proposition-1"/>
          <p:cNvSpPr/>
          <p:nvPr/>
        </p:nvSpPr>
        <p:spPr>
          <a:xfrm>
            <a:off x="694944" y="2450592"/>
            <a:ext cx="10789920" cy="786384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F8FC"/>
                </a:solidFill>
                <a:latin typeface="Microsoft JhengHei"/>
              </a:rPr>
              <a:t>一句話介紹：跑者在 LINE 提問，就能取得跑步訓練與天氣等整理後的答案</a:t>
            </a:r>
          </a:p>
        </p:txBody>
      </p:sp>
      <p:sp>
        <p:nvSpPr>
          <p:cNvPr id="8" name="conclusion-1"/>
          <p:cNvSpPr/>
          <p:nvPr/>
        </p:nvSpPr>
        <p:spPr>
          <a:xfrm>
            <a:off x="694944" y="3456432"/>
            <a:ext cx="3419856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Microsoft JhengHei"/>
              </a:rPr>
              <a:t>專案名稱：AI-ChotBot</a:t>
            </a:r>
          </a:p>
        </p:txBody>
      </p:sp>
      <p:sp>
        <p:nvSpPr>
          <p:cNvPr id="9" name="bullet-1-1"/>
          <p:cNvSpPr/>
          <p:nvPr/>
        </p:nvSpPr>
        <p:spPr>
          <a:xfrm>
            <a:off x="694944" y="4343400"/>
            <a:ext cx="3419856" cy="12344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專案名稱：AI-ChotBot</a:t>
            </a:r>
          </a:p>
        </p:txBody>
      </p:sp>
      <p:sp>
        <p:nvSpPr>
          <p:cNvPr id="10" name="bullet-1-2"/>
          <p:cNvSpPr/>
          <p:nvPr/>
        </p:nvSpPr>
        <p:spPr>
          <a:xfrm>
            <a:off x="4370831" y="4343400"/>
            <a:ext cx="3419856" cy="12344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一句話介紹：跑者在 LINE 提問，就能取得跑步訓練與天氣等整理後的答案</a:t>
            </a:r>
          </a:p>
        </p:txBody>
      </p:sp>
      <p:sp>
        <p:nvSpPr>
          <p:cNvPr id="11" name="bullet-1-3"/>
          <p:cNvSpPr/>
          <p:nvPr/>
        </p:nvSpPr>
        <p:spPr>
          <a:xfrm>
            <a:off x="8046719" y="4343400"/>
            <a:ext cx="3419856" cy="12344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本次說明：成果、現況、風險與下一步</a:t>
            </a:r>
          </a:p>
        </p:txBody>
      </p:sp>
      <p:sp>
        <p:nvSpPr>
          <p:cNvPr id="12" name="cover-status-1"/>
          <p:cNvSpPr/>
          <p:nvPr/>
        </p:nvSpPr>
        <p:spPr>
          <a:xfrm>
            <a:off x="694944" y="5751576"/>
            <a:ext cx="3419856" cy="384048"/>
          </a:xfrm>
          <a:prstGeom prst="roundRect">
            <a:avLst>
              <a:gd name="adj" fmla="val 12000"/>
            </a:avLst>
          </a:prstGeom>
          <a:solidFill>
            <a:srgbClr val="21D4B4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27432" rIns="128016" bIns="27432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核心能力已具備</a:t>
            </a:r>
          </a:p>
        </p:txBody>
      </p:sp>
      <p:sp>
        <p:nvSpPr>
          <p:cNvPr id="13" name="cover-status-2"/>
          <p:cNvSpPr/>
          <p:nvPr/>
        </p:nvSpPr>
        <p:spPr>
          <a:xfrm>
            <a:off x="4370831" y="5751576"/>
            <a:ext cx="3419856" cy="384048"/>
          </a:xfrm>
          <a:prstGeom prst="roundRect">
            <a:avLst>
              <a:gd name="adj" fmla="val 12000"/>
            </a:avLst>
          </a:prstGeom>
          <a:solidFill>
            <a:srgbClr val="4BA3FF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27432" rIns="128016" bIns="27432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知識搜尋開發中</a:t>
            </a:r>
          </a:p>
        </p:txBody>
      </p:sp>
      <p:sp>
        <p:nvSpPr>
          <p:cNvPr id="14" name="cover-status-3"/>
          <p:cNvSpPr/>
          <p:nvPr/>
        </p:nvSpPr>
        <p:spPr>
          <a:xfrm>
            <a:off x="8046719" y="5751576"/>
            <a:ext cx="3419856" cy="384048"/>
          </a:xfrm>
          <a:prstGeom prst="roundRect">
            <a:avLst>
              <a:gd name="adj" fmla="val 12000"/>
            </a:avLst>
          </a:prstGeom>
          <a:solidFill>
            <a:srgbClr val="FFBE55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27432" rIns="128016" bIns="27432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正式環境待驗證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2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2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02 / 14</a:t>
            </a:r>
          </a:p>
        </p:txBody>
      </p:sp>
      <p:sp>
        <p:nvSpPr>
          <p:cNvPr id="5" name="section-2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2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跑步社群目前面臨的問題</a:t>
            </a:r>
          </a:p>
        </p:txBody>
      </p:sp>
      <p:sp>
        <p:nvSpPr>
          <p:cNvPr id="7" name="conclusion-2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跑步訓練、裝備與活動資訊分散，跑者不知道該去哪裡找</a:t>
            </a:r>
          </a:p>
        </p:txBody>
      </p:sp>
      <p:sp>
        <p:nvSpPr>
          <p:cNvPr id="8" name="bullet-2-1"/>
          <p:cNvSpPr/>
          <p:nvPr/>
        </p:nvSpPr>
        <p:spPr>
          <a:xfrm>
            <a:off x="65836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跑步訓練、裝備與活動資訊分散，跑者不知道該去哪裡找</a:t>
            </a:r>
          </a:p>
        </p:txBody>
      </p:sp>
      <p:sp>
        <p:nvSpPr>
          <p:cNvPr id="9" name="item-index-2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2-2"/>
          <p:cNvSpPr/>
          <p:nvPr/>
        </p:nvSpPr>
        <p:spPr>
          <a:xfrm>
            <a:off x="619048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天氣會影響訓練安排，需要快速取得即時資訊</a:t>
            </a:r>
          </a:p>
        </p:txBody>
      </p:sp>
      <p:sp>
        <p:nvSpPr>
          <p:cNvPr id="11" name="item-index-2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2-3"/>
          <p:cNvSpPr/>
          <p:nvPr/>
        </p:nvSpPr>
        <p:spPr>
          <a:xfrm>
            <a:off x="65836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社群中的重複問題仰賴人工回覆，速度與品質容易受忙碌程度影響</a:t>
            </a:r>
          </a:p>
        </p:txBody>
      </p:sp>
      <p:sp>
        <p:nvSpPr>
          <p:cNvPr id="13" name="item-index-2-3"/>
          <p:cNvSpPr/>
          <p:nvPr/>
        </p:nvSpPr>
        <p:spPr>
          <a:xfrm>
            <a:off x="76809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2-4"/>
          <p:cNvSpPr/>
          <p:nvPr/>
        </p:nvSpPr>
        <p:spPr>
          <a:xfrm>
            <a:off x="619048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服務若離開 LINE，使用門檻就會提高</a:t>
            </a:r>
          </a:p>
        </p:txBody>
      </p:sp>
      <p:sp>
        <p:nvSpPr>
          <p:cNvPr id="15" name="item-index-2-4"/>
          <p:cNvSpPr/>
          <p:nvPr/>
        </p:nvSpPr>
        <p:spPr>
          <a:xfrm>
            <a:off x="630021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3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3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03 / 14</a:t>
            </a:r>
          </a:p>
        </p:txBody>
      </p:sp>
      <p:sp>
        <p:nvSpPr>
          <p:cNvPr id="5" name="section-3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3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我們提供的解決方案</a:t>
            </a:r>
          </a:p>
        </p:txBody>
      </p:sp>
      <p:sp>
        <p:nvSpPr>
          <p:cNvPr id="7" name="conclusion-3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以 LINE 作為入口，不必另外安裝新工具</a:t>
            </a:r>
          </a:p>
        </p:txBody>
      </p:sp>
      <p:sp>
        <p:nvSpPr>
          <p:cNvPr id="8" name="bullet-3-1"/>
          <p:cNvSpPr/>
          <p:nvPr/>
        </p:nvSpPr>
        <p:spPr>
          <a:xfrm>
            <a:off x="65836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以 LINE 作為入口，不必另外安裝新工具</a:t>
            </a:r>
          </a:p>
        </p:txBody>
      </p:sp>
      <p:sp>
        <p:nvSpPr>
          <p:cNvPr id="9" name="item-index-3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3-2"/>
          <p:cNvSpPr/>
          <p:nvPr/>
        </p:nvSpPr>
        <p:spPr>
          <a:xfrm>
            <a:off x="619048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AI 將跑步問題整理成容易閱讀的回答</a:t>
            </a:r>
          </a:p>
        </p:txBody>
      </p:sp>
      <p:sp>
        <p:nvSpPr>
          <p:cNvPr id="11" name="item-index-3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3-3"/>
          <p:cNvSpPr/>
          <p:nvPr/>
        </p:nvSpPr>
        <p:spPr>
          <a:xfrm>
            <a:off x="65836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天氣資訊連接專門的外部資料來源</a:t>
            </a:r>
          </a:p>
        </p:txBody>
      </p:sp>
      <p:sp>
        <p:nvSpPr>
          <p:cNvPr id="13" name="item-index-3-3"/>
          <p:cNvSpPr/>
          <p:nvPr/>
        </p:nvSpPr>
        <p:spPr>
          <a:xfrm>
            <a:off x="76809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3-4"/>
          <p:cNvSpPr/>
          <p:nvPr/>
        </p:nvSpPr>
        <p:spPr>
          <a:xfrm>
            <a:off x="619048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背景處理與安全檢查兼顧速度與穩定性</a:t>
            </a:r>
          </a:p>
        </p:txBody>
      </p:sp>
      <p:sp>
        <p:nvSpPr>
          <p:cNvPr id="15" name="item-index-3-4"/>
          <p:cNvSpPr/>
          <p:nvPr/>
        </p:nvSpPr>
        <p:spPr>
          <a:xfrm>
            <a:off x="630021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4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4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04 / 14</a:t>
            </a:r>
          </a:p>
        </p:txBody>
      </p:sp>
      <p:sp>
        <p:nvSpPr>
          <p:cNvPr id="5" name="section-4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4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使用者實際操作情境</a:t>
            </a:r>
          </a:p>
        </p:txBody>
      </p:sp>
      <p:sp>
        <p:nvSpPr>
          <p:cNvPr id="7" name="conclusion-4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目前操作範圍僅限指定的 LINE 群組</a:t>
            </a:r>
          </a:p>
        </p:txBody>
      </p:sp>
      <p:sp>
        <p:nvSpPr>
          <p:cNvPr id="8" name="bullet-4-1"/>
          <p:cNvSpPr/>
          <p:nvPr/>
        </p:nvSpPr>
        <p:spPr>
          <a:xfrm>
            <a:off x="658368" y="208483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目前操作範圍僅限指定的 LINE 群組</a:t>
            </a:r>
          </a:p>
        </p:txBody>
      </p:sp>
      <p:sp>
        <p:nvSpPr>
          <p:cNvPr id="9" name="item-index-4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4-2"/>
          <p:cNvSpPr/>
          <p:nvPr/>
        </p:nvSpPr>
        <p:spPr>
          <a:xfrm>
            <a:off x="6190488" y="208483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使用者須以 LINE 原生提及功能點名機器人，系統才會處理</a:t>
            </a:r>
          </a:p>
        </p:txBody>
      </p:sp>
      <p:sp>
        <p:nvSpPr>
          <p:cNvPr id="11" name="item-index-4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4-3"/>
          <p:cNvSpPr/>
          <p:nvPr/>
        </p:nvSpPr>
        <p:spPr>
          <a:xfrm>
            <a:off x="658368" y="350215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可詢問跑步訓練問題，或查詢會影響訓練安排的天氣</a:t>
            </a:r>
          </a:p>
        </p:txBody>
      </p:sp>
      <p:sp>
        <p:nvSpPr>
          <p:cNvPr id="13" name="item-index-4-3"/>
          <p:cNvSpPr/>
          <p:nvPr/>
        </p:nvSpPr>
        <p:spPr>
          <a:xfrm>
            <a:off x="768096" y="3593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4-4"/>
          <p:cNvSpPr/>
          <p:nvPr/>
        </p:nvSpPr>
        <p:spPr>
          <a:xfrm>
            <a:off x="6190488" y="350215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複雜問題在背景處理，不占住接待入口</a:t>
            </a:r>
          </a:p>
        </p:txBody>
      </p:sp>
      <p:sp>
        <p:nvSpPr>
          <p:cNvPr id="15" name="item-index-4-4"/>
          <p:cNvSpPr/>
          <p:nvPr/>
        </p:nvSpPr>
        <p:spPr>
          <a:xfrm>
            <a:off x="6300216" y="3593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16" name="bullet-4-5"/>
          <p:cNvSpPr/>
          <p:nvPr/>
        </p:nvSpPr>
        <p:spPr>
          <a:xfrm>
            <a:off x="658368" y="491947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知識搜尋是上線後的預期能力；正式環境操作仍待實機驗證</a:t>
            </a:r>
          </a:p>
        </p:txBody>
      </p:sp>
      <p:sp>
        <p:nvSpPr>
          <p:cNvPr id="17" name="item-index-4-5"/>
          <p:cNvSpPr/>
          <p:nvPr/>
        </p:nvSpPr>
        <p:spPr>
          <a:xfrm>
            <a:off x="768096" y="501091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5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5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05 / 14</a:t>
            </a:r>
          </a:p>
        </p:txBody>
      </p:sp>
      <p:sp>
        <p:nvSpPr>
          <p:cNvPr id="5" name="section-5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5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系統如何運作</a:t>
            </a:r>
          </a:p>
        </p:txBody>
      </p:sp>
      <p:sp>
        <p:nvSpPr>
          <p:cNvPr id="7" name="conclusion-5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先做安全與條件檢查，再接受處理</a:t>
            </a:r>
          </a:p>
        </p:txBody>
      </p:sp>
      <p:cxnSp>
        <p:nvCxnSpPr>
          <p:cNvPr id="8" name="flow-connector-1"/>
          <p:cNvCxnSpPr/>
          <p:nvPr/>
        </p:nvCxnSpPr>
        <p:spPr>
          <a:xfrm>
            <a:off x="2020824" y="2450592"/>
            <a:ext cx="292608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arrow-1"/>
          <p:cNvSpPr/>
          <p:nvPr/>
        </p:nvSpPr>
        <p:spPr>
          <a:xfrm>
            <a:off x="2167128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flow-connector-2"/>
          <p:cNvCxnSpPr/>
          <p:nvPr/>
        </p:nvCxnSpPr>
        <p:spPr>
          <a:xfrm>
            <a:off x="3922776" y="2450592"/>
            <a:ext cx="292608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arrow-2"/>
          <p:cNvSpPr/>
          <p:nvPr/>
        </p:nvSpPr>
        <p:spPr>
          <a:xfrm>
            <a:off x="4069080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flow-connector-3"/>
          <p:cNvCxnSpPr/>
          <p:nvPr/>
        </p:nvCxnSpPr>
        <p:spPr>
          <a:xfrm>
            <a:off x="5824728" y="2450592"/>
            <a:ext cx="292608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-arrow-3"/>
          <p:cNvSpPr/>
          <p:nvPr/>
        </p:nvSpPr>
        <p:spPr>
          <a:xfrm>
            <a:off x="5971032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flow-connector-4"/>
          <p:cNvCxnSpPr/>
          <p:nvPr/>
        </p:nvCxnSpPr>
        <p:spPr>
          <a:xfrm>
            <a:off x="7726680" y="2450592"/>
            <a:ext cx="292608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-arrow-4"/>
          <p:cNvSpPr/>
          <p:nvPr/>
        </p:nvSpPr>
        <p:spPr>
          <a:xfrm>
            <a:off x="7872983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flow-connector-5"/>
          <p:cNvCxnSpPr/>
          <p:nvPr/>
        </p:nvCxnSpPr>
        <p:spPr>
          <a:xfrm>
            <a:off x="9628632" y="2450592"/>
            <a:ext cx="292608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-arrow-5"/>
          <p:cNvSpPr/>
          <p:nvPr/>
        </p:nvSpPr>
        <p:spPr>
          <a:xfrm>
            <a:off x="9774936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low-node-1"/>
          <p:cNvSpPr/>
          <p:nvPr/>
        </p:nvSpPr>
        <p:spPr>
          <a:xfrm>
            <a:off x="484632" y="2084831"/>
            <a:ext cx="1536192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8FC"/>
                </a:solidFill>
                <a:latin typeface="Microsoft JhengHei"/>
              </a:rPr>
              <a:t>使用者在 LINE 提問</a:t>
            </a:r>
          </a:p>
        </p:txBody>
      </p:sp>
      <p:sp>
        <p:nvSpPr>
          <p:cNvPr id="19" name="flow-node-2"/>
          <p:cNvSpPr/>
          <p:nvPr/>
        </p:nvSpPr>
        <p:spPr>
          <a:xfrm>
            <a:off x="2386584" y="2084831"/>
            <a:ext cx="1536192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8FC"/>
                </a:solidFill>
                <a:latin typeface="Microsoft JhengHei"/>
              </a:rPr>
              <a:t>確認訊息安全且符合條件</a:t>
            </a:r>
          </a:p>
        </p:txBody>
      </p:sp>
      <p:sp>
        <p:nvSpPr>
          <p:cNvPr id="20" name="flow-node-3"/>
          <p:cNvSpPr/>
          <p:nvPr/>
        </p:nvSpPr>
        <p:spPr>
          <a:xfrm>
            <a:off x="4288536" y="2084831"/>
            <a:ext cx="1536192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8FC"/>
                </a:solidFill>
                <a:latin typeface="Microsoft JhengHei"/>
              </a:rPr>
              <a:t>排入處理隊伍</a:t>
            </a:r>
          </a:p>
        </p:txBody>
      </p:sp>
      <p:sp>
        <p:nvSpPr>
          <p:cNvPr id="21" name="flow-node-4"/>
          <p:cNvSpPr/>
          <p:nvPr/>
        </p:nvSpPr>
        <p:spPr>
          <a:xfrm>
            <a:off x="6190488" y="2084831"/>
            <a:ext cx="1536192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8FC"/>
                </a:solidFill>
                <a:latin typeface="Microsoft JhengHei"/>
              </a:rPr>
              <a:t>查找資料並請 AI 整理</a:t>
            </a:r>
          </a:p>
        </p:txBody>
      </p:sp>
      <p:sp>
        <p:nvSpPr>
          <p:cNvPr id="22" name="flow-node-5"/>
          <p:cNvSpPr/>
          <p:nvPr/>
        </p:nvSpPr>
        <p:spPr>
          <a:xfrm>
            <a:off x="8092440" y="2084831"/>
            <a:ext cx="1536192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8FC"/>
                </a:solidFill>
                <a:latin typeface="Microsoft JhengHei"/>
              </a:rPr>
              <a:t>把答案回傳至 LINE</a:t>
            </a:r>
          </a:p>
        </p:txBody>
      </p:sp>
      <p:sp>
        <p:nvSpPr>
          <p:cNvPr id="23" name="flow-node-6"/>
          <p:cNvSpPr/>
          <p:nvPr/>
        </p:nvSpPr>
        <p:spPr>
          <a:xfrm>
            <a:off x="9994392" y="2084831"/>
            <a:ext cx="1536192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4F8FC"/>
                </a:solidFill>
                <a:latin typeface="Microsoft JhengHei"/>
              </a:rPr>
              <a:t>留下分層管理的工作與診斷紀錄</a:t>
            </a:r>
          </a:p>
        </p:txBody>
      </p:sp>
      <p:sp>
        <p:nvSpPr>
          <p:cNvPr id="24" name="data-card-logs"/>
          <p:cNvSpPr/>
          <p:nvPr/>
        </p:nvSpPr>
        <p:spPr>
          <a:xfrm>
            <a:off x="658368" y="2971800"/>
            <a:ext cx="5312664" cy="53035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4F8FC"/>
                </a:solidFill>
                <a:latin typeface="Microsoft JhengHei"/>
              </a:rPr>
              <a:t>Workers Logs｜去識別化欄位，不寫入訊息原文</a:t>
            </a:r>
          </a:p>
        </p:txBody>
      </p:sp>
      <p:sp>
        <p:nvSpPr>
          <p:cNvPr id="25" name="data-card-d1"/>
          <p:cNvSpPr/>
          <p:nvPr/>
        </p:nvSpPr>
        <p:spPr>
          <a:xfrm>
            <a:off x="6190488" y="2971800"/>
            <a:ext cx="5312664" cy="53035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4F8FC"/>
                </a:solidFill>
                <a:latin typeface="Microsoft JhengHei"/>
              </a:rPr>
              <a:t>D1｜工作紀錄暫存供處理與診斷，最長 30 天後清理</a:t>
            </a:r>
          </a:p>
        </p:txBody>
      </p:sp>
      <p:sp>
        <p:nvSpPr>
          <p:cNvPr id="26" name="bullet-5-1"/>
          <p:cNvSpPr/>
          <p:nvPr/>
        </p:nvSpPr>
        <p:spPr>
          <a:xfrm>
            <a:off x="658368" y="3675887"/>
            <a:ext cx="5312664" cy="11201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先做安全與條件檢查，再接受處理</a:t>
            </a:r>
          </a:p>
        </p:txBody>
      </p:sp>
      <p:sp>
        <p:nvSpPr>
          <p:cNvPr id="27" name="item-index-5-1"/>
          <p:cNvSpPr/>
          <p:nvPr/>
        </p:nvSpPr>
        <p:spPr>
          <a:xfrm>
            <a:off x="768096" y="3767327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28" name="bullet-5-2"/>
          <p:cNvSpPr/>
          <p:nvPr/>
        </p:nvSpPr>
        <p:spPr>
          <a:xfrm>
            <a:off x="6190488" y="3675887"/>
            <a:ext cx="5312664" cy="11201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排隊機制像取號碼牌，避免尖峰時塞車</a:t>
            </a:r>
          </a:p>
        </p:txBody>
      </p:sp>
      <p:sp>
        <p:nvSpPr>
          <p:cNvPr id="29" name="item-index-5-2"/>
          <p:cNvSpPr/>
          <p:nvPr/>
        </p:nvSpPr>
        <p:spPr>
          <a:xfrm>
            <a:off x="6300216" y="3767327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30" name="bullet-5-3"/>
          <p:cNvSpPr/>
          <p:nvPr/>
        </p:nvSpPr>
        <p:spPr>
          <a:xfrm>
            <a:off x="658368" y="4978907"/>
            <a:ext cx="5312664" cy="11201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回傳答案，並依用途分層管理工作與診斷紀錄</a:t>
            </a:r>
          </a:p>
        </p:txBody>
      </p:sp>
      <p:sp>
        <p:nvSpPr>
          <p:cNvPr id="31" name="item-index-5-3"/>
          <p:cNvSpPr/>
          <p:nvPr/>
        </p:nvSpPr>
        <p:spPr>
          <a:xfrm>
            <a:off x="768096" y="5070347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32" name="bullet-5-4"/>
          <p:cNvSpPr/>
          <p:nvPr/>
        </p:nvSpPr>
        <p:spPr>
          <a:xfrm>
            <a:off x="6190488" y="4978907"/>
            <a:ext cx="5312664" cy="11201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Workers Logs 使用去識別化欄位且不寫入訊息原文；D1 工作紀錄會暫存問題與回答供處理與診斷，最長 30 天後清理</a:t>
            </a:r>
          </a:p>
        </p:txBody>
      </p:sp>
      <p:sp>
        <p:nvSpPr>
          <p:cNvPr id="33" name="item-index-5-4"/>
          <p:cNvSpPr/>
          <p:nvPr/>
        </p:nvSpPr>
        <p:spPr>
          <a:xfrm>
            <a:off x="6300216" y="5070347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6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6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06 / 14</a:t>
            </a:r>
          </a:p>
        </p:txBody>
      </p:sp>
      <p:sp>
        <p:nvSpPr>
          <p:cNvPr id="5" name="section-6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6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已完成的核心功能</a:t>
            </a:r>
          </a:p>
        </p:txBody>
      </p:sp>
      <p:sp>
        <p:nvSpPr>
          <p:cNvPr id="7" name="conclusion-6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LINE 訊息接收、判斷與回覆流程</a:t>
            </a:r>
          </a:p>
        </p:txBody>
      </p:sp>
      <p:sp>
        <p:nvSpPr>
          <p:cNvPr id="8" name="bullet-6-1"/>
          <p:cNvSpPr/>
          <p:nvPr/>
        </p:nvSpPr>
        <p:spPr>
          <a:xfrm>
            <a:off x="658368" y="208483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LINE 訊息接收、判斷與回覆流程</a:t>
            </a:r>
          </a:p>
        </p:txBody>
      </p:sp>
      <p:sp>
        <p:nvSpPr>
          <p:cNvPr id="9" name="item-index-6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6-2"/>
          <p:cNvSpPr/>
          <p:nvPr/>
        </p:nvSpPr>
        <p:spPr>
          <a:xfrm>
            <a:off x="6190488" y="208483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背景排隊處理，降低尖峰流量影響</a:t>
            </a:r>
          </a:p>
        </p:txBody>
      </p:sp>
      <p:sp>
        <p:nvSpPr>
          <p:cNvPr id="11" name="item-index-6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6-3"/>
          <p:cNvSpPr/>
          <p:nvPr/>
        </p:nvSpPr>
        <p:spPr>
          <a:xfrm>
            <a:off x="658368" y="350215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AI 回答與即時天氣資料整合</a:t>
            </a:r>
          </a:p>
        </p:txBody>
      </p:sp>
      <p:sp>
        <p:nvSpPr>
          <p:cNvPr id="13" name="item-index-6-3"/>
          <p:cNvSpPr/>
          <p:nvPr/>
        </p:nvSpPr>
        <p:spPr>
          <a:xfrm>
            <a:off x="768096" y="3593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6-4"/>
          <p:cNvSpPr/>
          <p:nvPr/>
        </p:nvSpPr>
        <p:spPr>
          <a:xfrm>
            <a:off x="6190488" y="350215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隱私友善的運作觀測與錯誤追蹤</a:t>
            </a:r>
          </a:p>
        </p:txBody>
      </p:sp>
      <p:sp>
        <p:nvSpPr>
          <p:cNvPr id="15" name="item-index-6-4"/>
          <p:cNvSpPr/>
          <p:nvPr/>
        </p:nvSpPr>
        <p:spPr>
          <a:xfrm>
            <a:off x="6300216" y="3593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16" name="bullet-6-5"/>
          <p:cNvSpPr/>
          <p:nvPr/>
        </p:nvSpPr>
        <p:spPr>
          <a:xfrm>
            <a:off x="658368" y="491947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已建立自動化測試、型別與部署檢查機制；本次上線前設定檢查仍待更新</a:t>
            </a:r>
          </a:p>
        </p:txBody>
      </p:sp>
      <p:sp>
        <p:nvSpPr>
          <p:cNvPr id="17" name="item-index-6-5"/>
          <p:cNvSpPr/>
          <p:nvPr/>
        </p:nvSpPr>
        <p:spPr>
          <a:xfrm>
            <a:off x="768096" y="501091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7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7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07 / 14</a:t>
            </a:r>
          </a:p>
        </p:txBody>
      </p:sp>
      <p:sp>
        <p:nvSpPr>
          <p:cNvPr id="5" name="section-7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7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AI 如何產生可靠回答</a:t>
            </a:r>
          </a:p>
        </p:txBody>
      </p:sp>
      <p:sp>
        <p:nvSpPr>
          <p:cNvPr id="7" name="conclusion-7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天氣問題使用 Open-Meteo 專門資料來源</a:t>
            </a:r>
          </a:p>
        </p:txBody>
      </p:sp>
      <p:sp>
        <p:nvSpPr>
          <p:cNvPr id="8" name="bullet-7-1"/>
          <p:cNvSpPr/>
          <p:nvPr/>
        </p:nvSpPr>
        <p:spPr>
          <a:xfrm>
            <a:off x="65836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天氣問題使用 Open-Meteo 專門資料來源</a:t>
            </a:r>
          </a:p>
        </p:txBody>
      </p:sp>
      <p:sp>
        <p:nvSpPr>
          <p:cNvPr id="9" name="item-index-7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7-2"/>
          <p:cNvSpPr/>
          <p:nvPr/>
        </p:nvSpPr>
        <p:spPr>
          <a:xfrm>
            <a:off x="619048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一般跑步問題目前由模型生成，尚未經專屬知識庫佐證</a:t>
            </a:r>
          </a:p>
        </p:txBody>
      </p:sp>
      <p:sp>
        <p:nvSpPr>
          <p:cNvPr id="11" name="item-index-7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7-3"/>
          <p:cNvSpPr/>
          <p:nvPr/>
        </p:nvSpPr>
        <p:spPr>
          <a:xfrm>
            <a:off x="65836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可附來源的知識檢索仍在開發中，尚非目前正式能力</a:t>
            </a:r>
          </a:p>
        </p:txBody>
      </p:sp>
      <p:sp>
        <p:nvSpPr>
          <p:cNvPr id="13" name="item-index-7-3"/>
          <p:cNvSpPr/>
          <p:nvPr/>
        </p:nvSpPr>
        <p:spPr>
          <a:xfrm>
            <a:off x="76809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7-4"/>
          <p:cNvSpPr/>
          <p:nvPr/>
        </p:nvSpPr>
        <p:spPr>
          <a:xfrm>
            <a:off x="619048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異常時採保守回覆，避免誤導使用者</a:t>
            </a:r>
          </a:p>
        </p:txBody>
      </p:sp>
      <p:sp>
        <p:nvSpPr>
          <p:cNvPr id="15" name="item-index-7-4"/>
          <p:cNvSpPr/>
          <p:nvPr/>
        </p:nvSpPr>
        <p:spPr>
          <a:xfrm>
            <a:off x="630021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8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8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8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08 / 14</a:t>
            </a:r>
          </a:p>
        </p:txBody>
      </p:sp>
      <p:sp>
        <p:nvSpPr>
          <p:cNvPr id="5" name="section-8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8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知識庫搜尋功能進度</a:t>
            </a:r>
          </a:p>
        </p:txBody>
      </p:sp>
      <p:sp>
        <p:nvSpPr>
          <p:cNvPr id="7" name="conclusion-8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狀態：開發中，尚未合併至正式主線</a:t>
            </a:r>
          </a:p>
        </p:txBody>
      </p:sp>
      <p:sp>
        <p:nvSpPr>
          <p:cNvPr id="8" name="bullet-8-1"/>
          <p:cNvSpPr/>
          <p:nvPr/>
        </p:nvSpPr>
        <p:spPr>
          <a:xfrm>
            <a:off x="65836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狀態：開發中，尚未合併至正式主線</a:t>
            </a:r>
          </a:p>
        </p:txBody>
      </p:sp>
      <p:sp>
        <p:nvSpPr>
          <p:cNvPr id="9" name="item-index-8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8-2"/>
          <p:cNvSpPr/>
          <p:nvPr/>
        </p:nvSpPr>
        <p:spPr>
          <a:xfrm>
            <a:off x="6190488" y="2084831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目標：先從專屬資料找答案，再交由 AI 摘要</a:t>
            </a:r>
          </a:p>
        </p:txBody>
      </p:sp>
      <p:sp>
        <p:nvSpPr>
          <p:cNvPr id="11" name="item-index-8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8-3"/>
          <p:cNvSpPr/>
          <p:nvPr/>
        </p:nvSpPr>
        <p:spPr>
          <a:xfrm>
            <a:off x="65836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目前仍需完成程式整理、審查與合併前品質檢查</a:t>
            </a:r>
          </a:p>
        </p:txBody>
      </p:sp>
      <p:sp>
        <p:nvSpPr>
          <p:cNvPr id="13" name="item-index-8-3"/>
          <p:cNvSpPr/>
          <p:nvPr/>
        </p:nvSpPr>
        <p:spPr>
          <a:xfrm>
            <a:off x="76809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8-4"/>
          <p:cNvSpPr/>
          <p:nvPr/>
        </p:nvSpPr>
        <p:spPr>
          <a:xfrm>
            <a:off x="6190488" y="4210812"/>
            <a:ext cx="5312664" cy="194310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通過自動化驗證後，才會進入合併與部署</a:t>
            </a:r>
          </a:p>
        </p:txBody>
      </p:sp>
      <p:sp>
        <p:nvSpPr>
          <p:cNvPr id="15" name="item-index-8-4"/>
          <p:cNvSpPr/>
          <p:nvPr/>
        </p:nvSpPr>
        <p:spPr>
          <a:xfrm>
            <a:off x="6300216" y="43022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9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9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9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09 / 14</a:t>
            </a:r>
          </a:p>
        </p:txBody>
      </p:sp>
      <p:sp>
        <p:nvSpPr>
          <p:cNvPr id="5" name="section-9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9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使用技術、目前狀態與帶來的價值</a:t>
            </a:r>
          </a:p>
        </p:txBody>
      </p:sp>
      <p:sp>
        <p:nvSpPr>
          <p:cNvPr id="7" name="conclusion-9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每項技術都有明確角色，不為技術而技術</a:t>
            </a:r>
          </a:p>
        </p:txBody>
      </p:sp>
      <p:sp>
        <p:nvSpPr>
          <p:cNvPr id="8" name="bullet-9-1"/>
          <p:cNvSpPr/>
          <p:nvPr/>
        </p:nvSpPr>
        <p:spPr>
          <a:xfrm>
            <a:off x="658368" y="1901952"/>
            <a:ext cx="3474720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每項技術都有明確角色，不為技術而技術</a:t>
            </a:r>
          </a:p>
        </p:txBody>
      </p:sp>
      <p:sp>
        <p:nvSpPr>
          <p:cNvPr id="9" name="bullet-9-2"/>
          <p:cNvSpPr/>
          <p:nvPr/>
        </p:nvSpPr>
        <p:spPr>
          <a:xfrm>
            <a:off x="4343400" y="1901952"/>
            <a:ext cx="3474720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雲端元件像分工團隊，各自處理專長工作</a:t>
            </a:r>
          </a:p>
        </p:txBody>
      </p:sp>
      <p:sp>
        <p:nvSpPr>
          <p:cNvPr id="10" name="bullet-9-3"/>
          <p:cNvSpPr/>
          <p:nvPr/>
        </p:nvSpPr>
        <p:spPr>
          <a:xfrm>
            <a:off x="8028432" y="1901952"/>
            <a:ext cx="3474720" cy="74980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開發與測試工具降低改版時的人工作業風險</a:t>
            </a:r>
          </a:p>
        </p:txBody>
      </p:sp>
      <p:sp>
        <p:nvSpPr>
          <p:cNvPr id="11" name="technology-group-core-capabilities"/>
          <p:cNvSpPr txBox="1"/>
          <p:nvPr/>
        </p:nvSpPr>
        <p:spPr>
          <a:xfrm>
            <a:off x="658368" y="2788920"/>
            <a:ext cx="3474720" cy="29260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主線能力</a:t>
            </a:r>
          </a:p>
        </p:txBody>
      </p:sp>
      <p:sp>
        <p:nvSpPr>
          <p:cNvPr id="12" name="tech-card-line-messaging-api"/>
          <p:cNvSpPr/>
          <p:nvPr/>
        </p:nvSpPr>
        <p:spPr>
          <a:xfrm>
            <a:off x="658368" y="3145536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LINE Messaging API
主線已具備</a:t>
            </a:r>
          </a:p>
        </p:txBody>
      </p:sp>
      <p:sp>
        <p:nvSpPr>
          <p:cNvPr id="13" name="tech-card-cloudflare-workers"/>
          <p:cNvSpPr/>
          <p:nvPr/>
        </p:nvSpPr>
        <p:spPr>
          <a:xfrm>
            <a:off x="658368" y="3600123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Cloudflare Workers
主線已具備</a:t>
            </a:r>
          </a:p>
        </p:txBody>
      </p:sp>
      <p:sp>
        <p:nvSpPr>
          <p:cNvPr id="14" name="tech-card-queues"/>
          <p:cNvSpPr/>
          <p:nvPr/>
        </p:nvSpPr>
        <p:spPr>
          <a:xfrm>
            <a:off x="658368" y="4054710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Queues
主線已具備</a:t>
            </a:r>
          </a:p>
        </p:txBody>
      </p:sp>
      <p:sp>
        <p:nvSpPr>
          <p:cNvPr id="15" name="tech-card-workers-ai"/>
          <p:cNvSpPr/>
          <p:nvPr/>
        </p:nvSpPr>
        <p:spPr>
          <a:xfrm>
            <a:off x="658368" y="4509298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Workers AI
主線已具備</a:t>
            </a:r>
          </a:p>
        </p:txBody>
      </p:sp>
      <p:sp>
        <p:nvSpPr>
          <p:cNvPr id="16" name="tech-card-d1"/>
          <p:cNvSpPr/>
          <p:nvPr/>
        </p:nvSpPr>
        <p:spPr>
          <a:xfrm>
            <a:off x="658368" y="4963885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D1
主線已具備</a:t>
            </a:r>
          </a:p>
        </p:txBody>
      </p:sp>
      <p:sp>
        <p:nvSpPr>
          <p:cNvPr id="17" name="tech-card-open-meteo"/>
          <p:cNvSpPr/>
          <p:nvPr/>
        </p:nvSpPr>
        <p:spPr>
          <a:xfrm>
            <a:off x="658368" y="5418473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Open-Meteo
主線已具備</a:t>
            </a:r>
          </a:p>
        </p:txBody>
      </p:sp>
      <p:sp>
        <p:nvSpPr>
          <p:cNvPr id="18" name="tech-card-hono"/>
          <p:cNvSpPr/>
          <p:nvPr/>
        </p:nvSpPr>
        <p:spPr>
          <a:xfrm>
            <a:off x="658368" y="5873060"/>
            <a:ext cx="3474720" cy="381435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Hono
主線已具備</a:t>
            </a:r>
          </a:p>
        </p:txBody>
      </p:sp>
      <p:sp>
        <p:nvSpPr>
          <p:cNvPr id="19" name="technology-group-knowledge-search"/>
          <p:cNvSpPr txBox="1"/>
          <p:nvPr/>
        </p:nvSpPr>
        <p:spPr>
          <a:xfrm>
            <a:off x="4343400" y="2788920"/>
            <a:ext cx="3474720" cy="29260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知識搜尋</a:t>
            </a:r>
          </a:p>
        </p:txBody>
      </p:sp>
      <p:sp>
        <p:nvSpPr>
          <p:cNvPr id="20" name="tech-card-r2"/>
          <p:cNvSpPr/>
          <p:nvPr/>
        </p:nvSpPr>
        <p:spPr>
          <a:xfrm>
            <a:off x="4343400" y="3145536"/>
            <a:ext cx="3474720" cy="987551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R2
知識搜尋開發中</a:t>
            </a:r>
          </a:p>
        </p:txBody>
      </p:sp>
      <p:sp>
        <p:nvSpPr>
          <p:cNvPr id="21" name="tech-card-vectorize"/>
          <p:cNvSpPr/>
          <p:nvPr/>
        </p:nvSpPr>
        <p:spPr>
          <a:xfrm>
            <a:off x="4343400" y="4206240"/>
            <a:ext cx="3474720" cy="987551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Vectorize
知識搜尋開發中</a:t>
            </a:r>
          </a:p>
        </p:txBody>
      </p:sp>
      <p:sp>
        <p:nvSpPr>
          <p:cNvPr id="22" name="tech-card-tavily"/>
          <p:cNvSpPr/>
          <p:nvPr/>
        </p:nvSpPr>
        <p:spPr>
          <a:xfrm>
            <a:off x="4343400" y="5266944"/>
            <a:ext cx="3474720" cy="987551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Tavily
知識搜尋開發中</a:t>
            </a:r>
          </a:p>
        </p:txBody>
      </p:sp>
      <p:sp>
        <p:nvSpPr>
          <p:cNvPr id="23" name="technology-group-engineering-tools"/>
          <p:cNvSpPr txBox="1"/>
          <p:nvPr/>
        </p:nvSpPr>
        <p:spPr>
          <a:xfrm>
            <a:off x="8028431" y="2788920"/>
            <a:ext cx="3474720" cy="29260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工程工具</a:t>
            </a:r>
          </a:p>
        </p:txBody>
      </p:sp>
      <p:sp>
        <p:nvSpPr>
          <p:cNvPr id="24" name="tech-card-typescript"/>
          <p:cNvSpPr/>
          <p:nvPr/>
        </p:nvSpPr>
        <p:spPr>
          <a:xfrm>
            <a:off x="8028431" y="3145536"/>
            <a:ext cx="3474720" cy="987551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TypeScript
主線已採用</a:t>
            </a:r>
          </a:p>
        </p:txBody>
      </p:sp>
      <p:sp>
        <p:nvSpPr>
          <p:cNvPr id="25" name="tech-card-vitest"/>
          <p:cNvSpPr/>
          <p:nvPr/>
        </p:nvSpPr>
        <p:spPr>
          <a:xfrm>
            <a:off x="8028431" y="4206240"/>
            <a:ext cx="3474720" cy="987551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Vitest
主線已採用</a:t>
            </a:r>
          </a:p>
        </p:txBody>
      </p:sp>
      <p:sp>
        <p:nvSpPr>
          <p:cNvPr id="26" name="tech-card-wrangler"/>
          <p:cNvSpPr/>
          <p:nvPr/>
        </p:nvSpPr>
        <p:spPr>
          <a:xfrm>
            <a:off x="8028431" y="5266944"/>
            <a:ext cx="3474720" cy="987551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Microsoft JhengHei"/>
              </a:rPr>
              <a:t>Wrangler
主線已採用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10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10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10 / 14</a:t>
            </a:r>
          </a:p>
        </p:txBody>
      </p:sp>
      <p:sp>
        <p:nvSpPr>
          <p:cNvPr id="5" name="section-10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10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資料安全與隱私保護</a:t>
            </a:r>
          </a:p>
        </p:txBody>
      </p:sp>
      <p:sp>
        <p:nvSpPr>
          <p:cNvPr id="7" name="conclusion-10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入口先驗證訊息來源與必要條件</a:t>
            </a:r>
          </a:p>
        </p:txBody>
      </p:sp>
      <p:sp>
        <p:nvSpPr>
          <p:cNvPr id="8" name="bullet-10-1"/>
          <p:cNvSpPr/>
          <p:nvPr/>
        </p:nvSpPr>
        <p:spPr>
          <a:xfrm>
            <a:off x="658368" y="208483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入口先驗證訊息來源與必要條件</a:t>
            </a:r>
          </a:p>
        </p:txBody>
      </p:sp>
      <p:sp>
        <p:nvSpPr>
          <p:cNvPr id="9" name="item-index-10-1"/>
          <p:cNvSpPr/>
          <p:nvPr/>
        </p:nvSpPr>
        <p:spPr>
          <a:xfrm>
            <a:off x="76809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0" name="bullet-10-2"/>
          <p:cNvSpPr/>
          <p:nvPr/>
        </p:nvSpPr>
        <p:spPr>
          <a:xfrm>
            <a:off x="6190488" y="208483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Workers Logs 僅使用去識別化欄位，不寫入訊息原文</a:t>
            </a:r>
          </a:p>
        </p:txBody>
      </p:sp>
      <p:sp>
        <p:nvSpPr>
          <p:cNvPr id="11" name="item-index-10-2"/>
          <p:cNvSpPr/>
          <p:nvPr/>
        </p:nvSpPr>
        <p:spPr>
          <a:xfrm>
            <a:off x="6300216" y="21762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2" name="bullet-10-3"/>
          <p:cNvSpPr/>
          <p:nvPr/>
        </p:nvSpPr>
        <p:spPr>
          <a:xfrm>
            <a:off x="658368" y="350215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D1 工作紀錄會暫存問題與回答供處理與診斷，最長 30 天後清理</a:t>
            </a:r>
          </a:p>
        </p:txBody>
      </p:sp>
      <p:sp>
        <p:nvSpPr>
          <p:cNvPr id="13" name="item-index-10-3"/>
          <p:cNvSpPr/>
          <p:nvPr/>
        </p:nvSpPr>
        <p:spPr>
          <a:xfrm>
            <a:off x="768096" y="3593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4" name="bullet-10-4"/>
          <p:cNvSpPr/>
          <p:nvPr/>
        </p:nvSpPr>
        <p:spPr>
          <a:xfrm>
            <a:off x="6190488" y="350215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敏感設定與程式、簡報內容分離</a:t>
            </a:r>
          </a:p>
        </p:txBody>
      </p:sp>
      <p:sp>
        <p:nvSpPr>
          <p:cNvPr id="15" name="item-index-10-4"/>
          <p:cNvSpPr/>
          <p:nvPr/>
        </p:nvSpPr>
        <p:spPr>
          <a:xfrm>
            <a:off x="6300216" y="3593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16" name="bullet-10-5"/>
          <p:cNvSpPr/>
          <p:nvPr/>
        </p:nvSpPr>
        <p:spPr>
          <a:xfrm>
            <a:off x="658368" y="4919471"/>
            <a:ext cx="5312664" cy="1234439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正式環境仍需再次核對權限與設定</a:t>
            </a:r>
          </a:p>
        </p:txBody>
      </p:sp>
      <p:sp>
        <p:nvSpPr>
          <p:cNvPr id="17" name="item-index-10-5"/>
          <p:cNvSpPr/>
          <p:nvPr/>
        </p:nvSpPr>
        <p:spPr>
          <a:xfrm>
            <a:off x="768096" y="501091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11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11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11 / 14</a:t>
            </a:r>
          </a:p>
        </p:txBody>
      </p:sp>
      <p:sp>
        <p:nvSpPr>
          <p:cNvPr id="5" name="section-11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11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系統穩定性與測試成果</a:t>
            </a:r>
          </a:p>
        </p:txBody>
      </p:sp>
      <p:sp>
        <p:nvSpPr>
          <p:cNvPr id="7" name="conclusion-11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測試註記：2026-07-30 開發環境自動化測試，非正式環境驗收</a:t>
            </a:r>
          </a:p>
        </p:txBody>
      </p:sp>
      <p:sp>
        <p:nvSpPr>
          <p:cNvPr id="8" name="status-tag-11-1"/>
          <p:cNvSpPr/>
          <p:nvPr/>
        </p:nvSpPr>
        <p:spPr>
          <a:xfrm>
            <a:off x="658368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21D4B4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主線測試通過</a:t>
            </a:r>
          </a:p>
        </p:txBody>
      </p:sp>
      <p:sp>
        <p:nvSpPr>
          <p:cNvPr id="9" name="status-tag-11-2"/>
          <p:cNvSpPr/>
          <p:nvPr/>
        </p:nvSpPr>
        <p:spPr>
          <a:xfrm>
            <a:off x="3364991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BE55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逾時待修正</a:t>
            </a:r>
          </a:p>
        </p:txBody>
      </p:sp>
      <p:sp>
        <p:nvSpPr>
          <p:cNvPr id="10" name="status-tag-11-3"/>
          <p:cNvSpPr/>
          <p:nvPr/>
        </p:nvSpPr>
        <p:spPr>
          <a:xfrm>
            <a:off x="6071616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4BA3FF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知識搜尋待合併</a:t>
            </a:r>
          </a:p>
        </p:txBody>
      </p:sp>
      <p:sp>
        <p:nvSpPr>
          <p:cNvPr id="11" name="status-tag-11-4"/>
          <p:cNvSpPr/>
          <p:nvPr/>
        </p:nvSpPr>
        <p:spPr>
          <a:xfrm>
            <a:off x="8778240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 w="14604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設定檢查待更新</a:t>
            </a:r>
          </a:p>
        </p:txBody>
      </p:sp>
      <p:sp>
        <p:nvSpPr>
          <p:cNvPr id="12" name="bullet-11-1"/>
          <p:cNvSpPr/>
          <p:nvPr/>
        </p:nvSpPr>
        <p:spPr>
          <a:xfrm>
            <a:off x="658368" y="249631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測試註記：2026-07-30 開發環境自動化測試，非正式環境驗收</a:t>
            </a:r>
          </a:p>
        </p:txBody>
      </p:sp>
      <p:sp>
        <p:nvSpPr>
          <p:cNvPr id="13" name="item-index-11-1"/>
          <p:cNvSpPr/>
          <p:nvPr/>
        </p:nvSpPr>
        <p:spPr>
          <a:xfrm>
            <a:off x="768096" y="25877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4" name="bullet-11-2"/>
          <p:cNvSpPr/>
          <p:nvPr/>
        </p:nvSpPr>
        <p:spPr>
          <a:xfrm>
            <a:off x="6190488" y="249631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主分支預設測試 134 項全部通過</a:t>
            </a:r>
          </a:p>
        </p:txBody>
      </p:sp>
      <p:sp>
        <p:nvSpPr>
          <p:cNvPr id="15" name="item-index-11-2"/>
          <p:cNvSpPr/>
          <p:nvPr/>
        </p:nvSpPr>
        <p:spPr>
          <a:xfrm>
            <a:off x="6300216" y="25877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6" name="bullet-11-3"/>
          <p:cNvSpPr/>
          <p:nvPr/>
        </p:nvSpPr>
        <p:spPr>
          <a:xfrm>
            <a:off x="658368" y="376123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知識搜尋 421 項通過，1 項完整流程測試超過 5 秒</a:t>
            </a:r>
          </a:p>
        </p:txBody>
      </p:sp>
      <p:sp>
        <p:nvSpPr>
          <p:cNvPr id="17" name="item-index-11-3"/>
          <p:cNvSpPr/>
          <p:nvPr/>
        </p:nvSpPr>
        <p:spPr>
          <a:xfrm>
            <a:off x="768096" y="385267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8" name="bullet-11-4"/>
          <p:cNvSpPr/>
          <p:nvPr/>
        </p:nvSpPr>
        <p:spPr>
          <a:xfrm>
            <a:off x="6190488" y="376123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知識搜尋仍有變更待收斂與審查，尚未合併至主線</a:t>
            </a:r>
          </a:p>
        </p:txBody>
      </p:sp>
      <p:sp>
        <p:nvSpPr>
          <p:cNvPr id="19" name="item-index-11-4"/>
          <p:cNvSpPr/>
          <p:nvPr/>
        </p:nvSpPr>
        <p:spPr>
          <a:xfrm>
            <a:off x="6300216" y="385267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20" name="bullet-11-5"/>
          <p:cNvSpPr/>
          <p:nvPr/>
        </p:nvSpPr>
        <p:spPr>
          <a:xfrm>
            <a:off x="658368" y="5026151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雲端服務設定的檢查定義需要更新，因此尚未通過上線前的自動檢查</a:t>
            </a:r>
          </a:p>
        </p:txBody>
      </p:sp>
      <p:sp>
        <p:nvSpPr>
          <p:cNvPr id="21" name="item-index-11-5"/>
          <p:cNvSpPr/>
          <p:nvPr/>
        </p:nvSpPr>
        <p:spPr>
          <a:xfrm>
            <a:off x="768096" y="5117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12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12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12 / 14</a:t>
            </a:r>
          </a:p>
        </p:txBody>
      </p:sp>
      <p:sp>
        <p:nvSpPr>
          <p:cNvPr id="5" name="section-12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12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現階段完成度</a:t>
            </a:r>
          </a:p>
        </p:txBody>
      </p:sp>
      <p:sp>
        <p:nvSpPr>
          <p:cNvPr id="7" name="conclusion-12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已完成：主分支核心訊息、排隊、AI、天氣與觀測能力</a:t>
            </a:r>
          </a:p>
        </p:txBody>
      </p:sp>
      <p:sp>
        <p:nvSpPr>
          <p:cNvPr id="8" name="status-tag-12-1"/>
          <p:cNvSpPr/>
          <p:nvPr/>
        </p:nvSpPr>
        <p:spPr>
          <a:xfrm>
            <a:off x="658368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21D4B4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已完成</a:t>
            </a:r>
          </a:p>
        </p:txBody>
      </p:sp>
      <p:sp>
        <p:nvSpPr>
          <p:cNvPr id="9" name="status-tag-12-2"/>
          <p:cNvSpPr/>
          <p:nvPr/>
        </p:nvSpPr>
        <p:spPr>
          <a:xfrm>
            <a:off x="3364991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4BA3FF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開發中</a:t>
            </a:r>
          </a:p>
        </p:txBody>
      </p:sp>
      <p:sp>
        <p:nvSpPr>
          <p:cNvPr id="10" name="status-tag-12-3"/>
          <p:cNvSpPr/>
          <p:nvPr/>
        </p:nvSpPr>
        <p:spPr>
          <a:xfrm>
            <a:off x="6071616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BE55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待合併前驗證</a:t>
            </a:r>
          </a:p>
        </p:txBody>
      </p:sp>
      <p:sp>
        <p:nvSpPr>
          <p:cNvPr id="11" name="status-tag-12-4"/>
          <p:cNvSpPr/>
          <p:nvPr/>
        </p:nvSpPr>
        <p:spPr>
          <a:xfrm>
            <a:off x="8778240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 w="14604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待正式環境驗證</a:t>
            </a:r>
          </a:p>
        </p:txBody>
      </p:sp>
      <p:sp>
        <p:nvSpPr>
          <p:cNvPr id="12" name="bullet-12-1"/>
          <p:cNvSpPr/>
          <p:nvPr/>
        </p:nvSpPr>
        <p:spPr>
          <a:xfrm>
            <a:off x="658368" y="249631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已完成：主分支核心訊息、排隊、AI、天氣與觀測能力</a:t>
            </a:r>
          </a:p>
        </p:txBody>
      </p:sp>
      <p:sp>
        <p:nvSpPr>
          <p:cNvPr id="13" name="item-index-12-1"/>
          <p:cNvSpPr/>
          <p:nvPr/>
        </p:nvSpPr>
        <p:spPr>
          <a:xfrm>
            <a:off x="768096" y="25877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4" name="bullet-12-2"/>
          <p:cNvSpPr/>
          <p:nvPr/>
        </p:nvSpPr>
        <p:spPr>
          <a:xfrm>
            <a:off x="6190488" y="249631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開發中：知識庫搜尋及其合併前整理與審查</a:t>
            </a:r>
          </a:p>
        </p:txBody>
      </p:sp>
      <p:sp>
        <p:nvSpPr>
          <p:cNvPr id="15" name="item-index-12-2"/>
          <p:cNvSpPr/>
          <p:nvPr/>
        </p:nvSpPr>
        <p:spPr>
          <a:xfrm>
            <a:off x="6300216" y="25877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6" name="bullet-12-3"/>
          <p:cNvSpPr/>
          <p:nvPr/>
        </p:nvSpPr>
        <p:spPr>
          <a:xfrm>
            <a:off x="658368" y="376123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待合併前驗證：更新雲端服務設定的檢查定義，並重新通過上線前的自動檢查</a:t>
            </a:r>
          </a:p>
        </p:txBody>
      </p:sp>
      <p:sp>
        <p:nvSpPr>
          <p:cNvPr id="17" name="item-index-12-3"/>
          <p:cNvSpPr/>
          <p:nvPr/>
        </p:nvSpPr>
        <p:spPr>
          <a:xfrm>
            <a:off x="768096" y="385267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8" name="bullet-12-4"/>
          <p:cNvSpPr/>
          <p:nvPr/>
        </p:nvSpPr>
        <p:spPr>
          <a:xfrm>
            <a:off x="6190488" y="376123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待正式環境驗證：部署、設定、外部連線與實機回覆</a:t>
            </a:r>
          </a:p>
        </p:txBody>
      </p:sp>
      <p:sp>
        <p:nvSpPr>
          <p:cNvPr id="19" name="item-index-12-4"/>
          <p:cNvSpPr/>
          <p:nvPr/>
        </p:nvSpPr>
        <p:spPr>
          <a:xfrm>
            <a:off x="6300216" y="385267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20" name="bullet-12-5"/>
          <p:cNvSpPr/>
          <p:nvPr/>
        </p:nvSpPr>
        <p:spPr>
          <a:xfrm>
            <a:off x="658368" y="5026151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進度以可驗證狀態呈現，不使用推估百分比</a:t>
            </a:r>
          </a:p>
        </p:txBody>
      </p:sp>
      <p:sp>
        <p:nvSpPr>
          <p:cNvPr id="21" name="item-index-12-5"/>
          <p:cNvSpPr/>
          <p:nvPr/>
        </p:nvSpPr>
        <p:spPr>
          <a:xfrm>
            <a:off x="768096" y="5117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13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13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13 / 14</a:t>
            </a:r>
          </a:p>
        </p:txBody>
      </p:sp>
      <p:sp>
        <p:nvSpPr>
          <p:cNvPr id="5" name="section-13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13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待完成工作與風險</a:t>
            </a:r>
          </a:p>
        </p:txBody>
      </p:sp>
      <p:sp>
        <p:nvSpPr>
          <p:cNvPr id="7" name="conclusion-13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知識搜尋仍有變更待收斂與審查</a:t>
            </a:r>
          </a:p>
        </p:txBody>
      </p:sp>
      <p:sp>
        <p:nvSpPr>
          <p:cNvPr id="8" name="status-tag-13-1"/>
          <p:cNvSpPr/>
          <p:nvPr/>
        </p:nvSpPr>
        <p:spPr>
          <a:xfrm>
            <a:off x="658368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4BA3FF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收斂與審查</a:t>
            </a:r>
          </a:p>
        </p:txBody>
      </p:sp>
      <p:sp>
        <p:nvSpPr>
          <p:cNvPr id="9" name="status-tag-13-2"/>
          <p:cNvSpPr/>
          <p:nvPr/>
        </p:nvSpPr>
        <p:spPr>
          <a:xfrm>
            <a:off x="3364991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BE55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測試逾時</a:t>
            </a:r>
          </a:p>
        </p:txBody>
      </p:sp>
      <p:sp>
        <p:nvSpPr>
          <p:cNvPr id="10" name="status-tag-13-3"/>
          <p:cNvSpPr/>
          <p:nvPr/>
        </p:nvSpPr>
        <p:spPr>
          <a:xfrm>
            <a:off x="6071616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BE55"/>
          </a:solidFill>
          <a:ln w="14604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文件品質</a:t>
            </a:r>
          </a:p>
        </p:txBody>
      </p:sp>
      <p:sp>
        <p:nvSpPr>
          <p:cNvPr id="11" name="status-tag-13-4"/>
          <p:cNvSpPr/>
          <p:nvPr/>
        </p:nvSpPr>
        <p:spPr>
          <a:xfrm>
            <a:off x="8778240" y="1901952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F6B6B"/>
          </a:solidFill>
          <a:ln w="14604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F8FC"/>
                </a:solidFill>
                <a:latin typeface="Microsoft JhengHei"/>
              </a:rPr>
              <a:t>部署風險</a:t>
            </a:r>
          </a:p>
        </p:txBody>
      </p:sp>
      <p:sp>
        <p:nvSpPr>
          <p:cNvPr id="12" name="bullet-13-1"/>
          <p:cNvSpPr/>
          <p:nvPr/>
        </p:nvSpPr>
        <p:spPr>
          <a:xfrm>
            <a:off x="658368" y="249631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知識搜尋仍有變更待收斂與審查</a:t>
            </a:r>
          </a:p>
        </p:txBody>
      </p:sp>
      <p:sp>
        <p:nvSpPr>
          <p:cNvPr id="13" name="item-index-13-1"/>
          <p:cNvSpPr/>
          <p:nvPr/>
        </p:nvSpPr>
        <p:spPr>
          <a:xfrm>
            <a:off x="768096" y="25877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14" name="bullet-13-2"/>
          <p:cNvSpPr/>
          <p:nvPr/>
        </p:nvSpPr>
        <p:spPr>
          <a:xfrm>
            <a:off x="6190488" y="249631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1 項完整流程測試超過 5 秒，需找出原因並修正</a:t>
            </a:r>
          </a:p>
        </p:txBody>
      </p:sp>
      <p:sp>
        <p:nvSpPr>
          <p:cNvPr id="15" name="item-index-13-2"/>
          <p:cNvSpPr/>
          <p:nvPr/>
        </p:nvSpPr>
        <p:spPr>
          <a:xfrm>
            <a:off x="6300216" y="258775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16" name="bullet-13-3"/>
          <p:cNvSpPr/>
          <p:nvPr/>
        </p:nvSpPr>
        <p:spPr>
          <a:xfrm>
            <a:off x="658368" y="376123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文件仍有中文亂碼需要清理，避免影響閱讀與交付</a:t>
            </a:r>
          </a:p>
        </p:txBody>
      </p:sp>
      <p:sp>
        <p:nvSpPr>
          <p:cNvPr id="17" name="item-index-13-3"/>
          <p:cNvSpPr/>
          <p:nvPr/>
        </p:nvSpPr>
        <p:spPr>
          <a:xfrm>
            <a:off x="768096" y="385267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18" name="bullet-13-4"/>
          <p:cNvSpPr/>
          <p:nvPr/>
        </p:nvSpPr>
        <p:spPr>
          <a:xfrm>
            <a:off x="6190488" y="3761232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正式部署與基本功能驗證尚未執行</a:t>
            </a:r>
          </a:p>
        </p:txBody>
      </p:sp>
      <p:sp>
        <p:nvSpPr>
          <p:cNvPr id="19" name="item-index-13-4"/>
          <p:cNvSpPr/>
          <p:nvPr/>
        </p:nvSpPr>
        <p:spPr>
          <a:xfrm>
            <a:off x="6300216" y="385267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20" name="bullet-13-5"/>
          <p:cNvSpPr/>
          <p:nvPr/>
        </p:nvSpPr>
        <p:spPr>
          <a:xfrm>
            <a:off x="658368" y="5026151"/>
            <a:ext cx="5312664" cy="108204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上線前設定檢查待更新；平行部署副本也需整理，以免版本混淆</a:t>
            </a:r>
          </a:p>
        </p:txBody>
      </p:sp>
      <p:sp>
        <p:nvSpPr>
          <p:cNvPr id="21" name="item-index-13-5"/>
          <p:cNvSpPr/>
          <p:nvPr/>
        </p:nvSpPr>
        <p:spPr>
          <a:xfrm>
            <a:off x="768096" y="511759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-14"/>
          <p:cNvSpPr txBox="1"/>
          <p:nvPr/>
        </p:nvSpPr>
        <p:spPr>
          <a:xfrm>
            <a:off x="658368" y="6473952"/>
            <a:ext cx="5120640" cy="201168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4F8FC"/>
                </a:solidFill>
                <a:latin typeface="Microsoft JhengHei"/>
              </a:rPr>
              <a:t>AI-ChotBot · CLIENT PROJECT UPDATE</a:t>
            </a:r>
          </a:p>
        </p:txBody>
      </p:sp>
      <p:sp>
        <p:nvSpPr>
          <p:cNvPr id="4" name="page-number-14"/>
          <p:cNvSpPr txBox="1"/>
          <p:nvPr/>
        </p:nvSpPr>
        <p:spPr>
          <a:xfrm>
            <a:off x="10625328" y="6419088"/>
            <a:ext cx="868680" cy="25603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F8FC"/>
                </a:solidFill>
                <a:latin typeface="Microsoft JhengHei"/>
              </a:rPr>
              <a:t>14 / 14</a:t>
            </a:r>
          </a:p>
        </p:txBody>
      </p:sp>
      <p:sp>
        <p:nvSpPr>
          <p:cNvPr id="5" name="section-14"/>
          <p:cNvSpPr txBox="1"/>
          <p:nvPr/>
        </p:nvSpPr>
        <p:spPr>
          <a:xfrm>
            <a:off x="676656" y="246888"/>
            <a:ext cx="2377440" cy="228600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PROJECT PROGRESS</a:t>
            </a:r>
          </a:p>
        </p:txBody>
      </p:sp>
      <p:sp>
        <p:nvSpPr>
          <p:cNvPr id="6" name="title-14"/>
          <p:cNvSpPr txBox="1"/>
          <p:nvPr/>
        </p:nvSpPr>
        <p:spPr>
          <a:xfrm>
            <a:off x="658368" y="512064"/>
            <a:ext cx="10835640" cy="530352"/>
          </a:xfrm>
          <a:prstGeom prst="rect">
            <a:avLst/>
          </a:prstGeom>
          <a:noFill/>
        </p:spPr>
        <p:txBody>
          <a:bodyPr wrap="square" anchor="ctr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Microsoft JhengHei"/>
              </a:rPr>
              <a:t>下一階段規劃與總結</a:t>
            </a:r>
          </a:p>
        </p:txBody>
      </p:sp>
      <p:sp>
        <p:nvSpPr>
          <p:cNvPr id="7" name="conclusion-14"/>
          <p:cNvSpPr/>
          <p:nvPr/>
        </p:nvSpPr>
        <p:spPr>
          <a:xfrm>
            <a:off x="658368" y="1170432"/>
            <a:ext cx="10844784" cy="621792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4F8FC"/>
                </a:solidFill>
                <a:latin typeface="Microsoft JhengHei"/>
              </a:rPr>
              <a:t>1. 完成分支：收斂知識搜尋、清理文件中文亂碼與平行部署副本</a:t>
            </a:r>
          </a:p>
        </p:txBody>
      </p:sp>
      <p:cxnSp>
        <p:nvCxnSpPr>
          <p:cNvPr id="8" name="roadmap-connector-1"/>
          <p:cNvCxnSpPr/>
          <p:nvPr/>
        </p:nvCxnSpPr>
        <p:spPr>
          <a:xfrm>
            <a:off x="2478024" y="2450592"/>
            <a:ext cx="274320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admap-arrow-1"/>
          <p:cNvSpPr/>
          <p:nvPr/>
        </p:nvSpPr>
        <p:spPr>
          <a:xfrm>
            <a:off x="2606039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oadmap-connector-2"/>
          <p:cNvCxnSpPr/>
          <p:nvPr/>
        </p:nvCxnSpPr>
        <p:spPr>
          <a:xfrm>
            <a:off x="4782312" y="2450592"/>
            <a:ext cx="274320" cy="0"/>
          </a:xfrm>
          <a:prstGeom prst="line">
            <a:avLst/>
          </a:prstGeom>
          <a:ln w="25400">
            <a:solidFill>
              <a:srgbClr val="21D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admap-arrow-2"/>
          <p:cNvSpPr/>
          <p:nvPr/>
        </p:nvSpPr>
        <p:spPr>
          <a:xfrm>
            <a:off x="4910328" y="2359152"/>
            <a:ext cx="182880" cy="182880"/>
          </a:xfrm>
          <a:prstGeom prst="chevron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oadmap-connector-3"/>
          <p:cNvCxnSpPr/>
          <p:nvPr/>
        </p:nvCxnSpPr>
        <p:spPr>
          <a:xfrm>
            <a:off x="7086600" y="2450592"/>
            <a:ext cx="274320" cy="0"/>
          </a:xfrm>
          <a:prstGeom prst="line">
            <a:avLst/>
          </a:prstGeom>
          <a:ln w="25400">
            <a:solidFill>
              <a:srgbClr val="4B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admap-arrow-3"/>
          <p:cNvSpPr/>
          <p:nvPr/>
        </p:nvSpPr>
        <p:spPr>
          <a:xfrm>
            <a:off x="7214616" y="2359152"/>
            <a:ext cx="182880" cy="182880"/>
          </a:xfrm>
          <a:prstGeom prst="chevron">
            <a:avLst/>
          </a:prstGeom>
          <a:solidFill>
            <a:srgbClr val="4B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roadmap-connector-4"/>
          <p:cNvCxnSpPr/>
          <p:nvPr/>
        </p:nvCxnSpPr>
        <p:spPr>
          <a:xfrm>
            <a:off x="9390888" y="2450592"/>
            <a:ext cx="274320" cy="0"/>
          </a:xfrm>
          <a:prstGeom prst="line">
            <a:avLst/>
          </a:prstGeom>
          <a:ln w="25400">
            <a:solidFill>
              <a:srgbClr val="4B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admap-arrow-4"/>
          <p:cNvSpPr/>
          <p:nvPr/>
        </p:nvSpPr>
        <p:spPr>
          <a:xfrm>
            <a:off x="9518904" y="2359152"/>
            <a:ext cx="182880" cy="182880"/>
          </a:xfrm>
          <a:prstGeom prst="chevron">
            <a:avLst/>
          </a:prstGeom>
          <a:solidFill>
            <a:srgbClr val="4B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admap-step-1"/>
          <p:cNvSpPr/>
          <p:nvPr/>
        </p:nvSpPr>
        <p:spPr>
          <a:xfrm>
            <a:off x="521207" y="2029968"/>
            <a:ext cx="1956816" cy="84124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Microsoft JhengHei"/>
              </a:rPr>
              <a:t>1 完成分支</a:t>
            </a:r>
          </a:p>
        </p:txBody>
      </p:sp>
      <p:sp>
        <p:nvSpPr>
          <p:cNvPr id="17" name="roadmap-step-2"/>
          <p:cNvSpPr/>
          <p:nvPr/>
        </p:nvSpPr>
        <p:spPr>
          <a:xfrm>
            <a:off x="2825496" y="2029968"/>
            <a:ext cx="1956816" cy="84124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Microsoft JhengHei"/>
              </a:rPr>
              <a:t>2 自動化驗證</a:t>
            </a:r>
          </a:p>
        </p:txBody>
      </p:sp>
      <p:sp>
        <p:nvSpPr>
          <p:cNvPr id="18" name="roadmap-step-3"/>
          <p:cNvSpPr/>
          <p:nvPr/>
        </p:nvSpPr>
        <p:spPr>
          <a:xfrm>
            <a:off x="5129784" y="2029968"/>
            <a:ext cx="1956816" cy="84124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Microsoft JhengHei"/>
              </a:rPr>
              <a:t>3 合併</a:t>
            </a:r>
          </a:p>
        </p:txBody>
      </p:sp>
      <p:sp>
        <p:nvSpPr>
          <p:cNvPr id="19" name="roadmap-step-4"/>
          <p:cNvSpPr/>
          <p:nvPr/>
        </p:nvSpPr>
        <p:spPr>
          <a:xfrm>
            <a:off x="7434072" y="2029968"/>
            <a:ext cx="1956816" cy="84124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Microsoft JhengHei"/>
              </a:rPr>
              <a:t>4 正式部署</a:t>
            </a:r>
          </a:p>
        </p:txBody>
      </p:sp>
      <p:sp>
        <p:nvSpPr>
          <p:cNvPr id="20" name="roadmap-step-5"/>
          <p:cNvSpPr/>
          <p:nvPr/>
        </p:nvSpPr>
        <p:spPr>
          <a:xfrm>
            <a:off x="9738360" y="2029968"/>
            <a:ext cx="1956816" cy="841248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F8FC"/>
                </a:solidFill>
                <a:latin typeface="Microsoft JhengHei"/>
              </a:rPr>
              <a:t>5 實機驗收</a:t>
            </a:r>
          </a:p>
        </p:txBody>
      </p:sp>
      <p:sp>
        <p:nvSpPr>
          <p:cNvPr id="21" name="bullet-14-1"/>
          <p:cNvSpPr/>
          <p:nvPr/>
        </p:nvSpPr>
        <p:spPr>
          <a:xfrm>
            <a:off x="658368" y="3273552"/>
            <a:ext cx="5312664" cy="82296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1. 完成分支：收斂知識搜尋、清理文件中文亂碼與平行部署副本</a:t>
            </a:r>
          </a:p>
        </p:txBody>
      </p:sp>
      <p:sp>
        <p:nvSpPr>
          <p:cNvPr id="22" name="item-index-14-1"/>
          <p:cNvSpPr/>
          <p:nvPr/>
        </p:nvSpPr>
        <p:spPr>
          <a:xfrm>
            <a:off x="768096" y="336499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1</a:t>
            </a:r>
          </a:p>
        </p:txBody>
      </p:sp>
      <p:sp>
        <p:nvSpPr>
          <p:cNvPr id="23" name="bullet-14-2"/>
          <p:cNvSpPr/>
          <p:nvPr/>
        </p:nvSpPr>
        <p:spPr>
          <a:xfrm>
            <a:off x="6190488" y="3273552"/>
            <a:ext cx="5312664" cy="82296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2. 自動化驗證：修正完整流程測試逾時，更新雲端服務設定的檢查定義後，通過完整測試與上線前自動檢查</a:t>
            </a:r>
          </a:p>
        </p:txBody>
      </p:sp>
      <p:sp>
        <p:nvSpPr>
          <p:cNvPr id="24" name="item-index-14-2"/>
          <p:cNvSpPr/>
          <p:nvPr/>
        </p:nvSpPr>
        <p:spPr>
          <a:xfrm>
            <a:off x="6300216" y="336499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2</a:t>
            </a:r>
          </a:p>
        </p:txBody>
      </p:sp>
      <p:sp>
        <p:nvSpPr>
          <p:cNvPr id="25" name="bullet-14-3"/>
          <p:cNvSpPr/>
          <p:nvPr/>
        </p:nvSpPr>
        <p:spPr>
          <a:xfrm>
            <a:off x="658368" y="4279392"/>
            <a:ext cx="5312664" cy="82296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3. 合併：審查後納入正式主線</a:t>
            </a:r>
          </a:p>
        </p:txBody>
      </p:sp>
      <p:sp>
        <p:nvSpPr>
          <p:cNvPr id="26" name="item-index-14-3"/>
          <p:cNvSpPr/>
          <p:nvPr/>
        </p:nvSpPr>
        <p:spPr>
          <a:xfrm>
            <a:off x="768096" y="437083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3</a:t>
            </a:r>
          </a:p>
        </p:txBody>
      </p:sp>
      <p:sp>
        <p:nvSpPr>
          <p:cNvPr id="27" name="bullet-14-4"/>
          <p:cNvSpPr/>
          <p:nvPr/>
        </p:nvSpPr>
        <p:spPr>
          <a:xfrm>
            <a:off x="6190488" y="4279392"/>
            <a:ext cx="5312664" cy="82296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4. 正式部署：發布設定完整的版本</a:t>
            </a:r>
          </a:p>
        </p:txBody>
      </p:sp>
      <p:sp>
        <p:nvSpPr>
          <p:cNvPr id="28" name="item-index-14-4"/>
          <p:cNvSpPr/>
          <p:nvPr/>
        </p:nvSpPr>
        <p:spPr>
          <a:xfrm>
            <a:off x="6300216" y="4370831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4</a:t>
            </a:r>
          </a:p>
        </p:txBody>
      </p:sp>
      <p:sp>
        <p:nvSpPr>
          <p:cNvPr id="29" name="bullet-14-5"/>
          <p:cNvSpPr/>
          <p:nvPr/>
        </p:nvSpPr>
        <p:spPr>
          <a:xfrm>
            <a:off x="658368" y="5285232"/>
            <a:ext cx="5312664" cy="822960"/>
          </a:xfrm>
          <a:prstGeom prst="roundRect">
            <a:avLst>
              <a:gd name="adj" fmla="val 12000"/>
            </a:avLst>
          </a:prstGeom>
          <a:solidFill>
            <a:srgbClr val="102B46"/>
          </a:solidFill>
          <a:ln w="14604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rIns="128016" bIns="9144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4F8FC"/>
                </a:solidFill>
                <a:latin typeface="Microsoft JhengHei"/>
              </a:rPr>
              <a:t>5. 實機驗收：用 LINE 完成端到端確認</a:t>
            </a:r>
          </a:p>
        </p:txBody>
      </p:sp>
      <p:sp>
        <p:nvSpPr>
          <p:cNvPr id="30" name="item-index-14-5"/>
          <p:cNvSpPr/>
          <p:nvPr/>
        </p:nvSpPr>
        <p:spPr>
          <a:xfrm>
            <a:off x="768096" y="5376672"/>
            <a:ext cx="310896" cy="310896"/>
          </a:xfrm>
          <a:prstGeom prst="ellipse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4F8FC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